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3F6802-E550-E540-1CB8-0A01EC39695F}" v="81" dt="2026-05-16T21:14:58.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6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FB30C93-B749-48FE-BC2D-188249841F6E}" type="datetimeFigureOut">
              <a:t>5/17/2026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77FCEF18-A9A4-45AD-913D-C1ADB51A6457}" type="slidenum">
              <a:t>‹#›</a:t>
            </a:fld>
            <a:endParaRPr lang="en-US"/>
          </a:p>
        </p:txBody>
      </p:sp>
    </p:spTree>
    <p:extLst>
      <p:ext uri="{BB962C8B-B14F-4D97-AF65-F5344CB8AC3E}">
        <p14:creationId xmlns:p14="http://schemas.microsoft.com/office/powerpoint/2010/main" val="3860060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(~1 min): Introduce the team and the topic. Mention that summarization is a key NLP challenge and explain why Arabic is particularly interesting — morphological richness, dialects, limited resources. Set up the 15-minute structure for the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Briefly walk through the agenda so the audience knows what to expect. Each section has a designated presenter.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Explain the two paradigms quickly. The key sell here is WHY Arabic is hard and under-resourced, making this project genuinely relevant.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Walk through each dataset briefly. Emphasise the variety — different dialects, different formats, different sizes. This diversity is a strength. Mention the load_and_merge() function that unifies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Walk through each step. Highlight that Arabic normalisation is crucial — the same word can appear in many forms. Teacher forcing is the training strategy that feeds the ground-truth token as the next decoder input, making training stable.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Walk through the function line by line. The three re.sub calls at the top handle noise. The Hamza/Ta-Marbuta/Alef-Maqsura unification is the Arabic-specific magic — it collapses many surface forms of the same word into one, which dramatically reduces vocabulary size and improves model generalisation.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Walk through the three boxes left-to-right. Emphasise WHY we froze the AraBERT embeddings (GPU memory savings, transfer learning). Explain attention intuitively — the model 'looks back' at the input while generating each word.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Point to the left panel first — key thing is trainable=False on the embedding. Then move right — the LSTM gets 256 units because it receives 128+128 from the concatenated bidirectional states. The AdditiveAttention is Bahdanau-style: it scores each encoder position for each decoder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Explain the callback stack — EarlyStopping prevents overfitting, ReduceLROnPlateau helps escape plateaus, and CSVLogger saves the loss curves so we can plot them later. Mixed float16 halves the GPU memory footprint.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This is the inference loop. Notice that inference works step-by-step (unlike training which is parallel). Each iteration: run the decoder one step, apply the repetition penalty to already-generated token IDs, sample with temperature, and feed the result back as the next input. Stop at [SEP] or when max length is hit.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Show 1-2 real outputs from your notebook's sanity check cell. Discuss what the model got right (key topic identified) and what it got wrong (repetition, morphological errors, incomplete sentences). This honest analysis is exactly what the discussion expects.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Be candid about the challenges — instructors appreciate honest reflection more than overclaiming results. Frame each challenge as a learning opportunity and connect the 'future improvements' to things you genuinely explored.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Wrap up energetically. Restate what was built and learned. Invite questions — each team member should be ready to field questions about any part of the project, as per the project requirements.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C4B6"/>
          </a:solidFill>
          <a:ln w="12700">
            <a:solidFill>
              <a:srgbClr val="2EC4B6"/>
            </a:solidFill>
            <a:prstDash val="solid"/>
          </a:ln>
        </p:spPr>
        <p:txBody>
          <a:bodyPr/>
          <a:lstStyle/>
          <a:p>
            <a:endParaRPr lang="en-US"/>
          </a:p>
        </p:txBody>
      </p:sp>
      <p:sp>
        <p:nvSpPr>
          <p:cNvPr id="3" name="Shape 1"/>
          <p:cNvSpPr/>
          <p:nvPr/>
        </p:nvSpPr>
        <p:spPr>
          <a:xfrm>
            <a:off x="7132320" y="-731520"/>
            <a:ext cx="3200400" cy="3200400"/>
          </a:xfrm>
          <a:prstGeom prst="ellipse">
            <a:avLst/>
          </a:prstGeom>
          <a:solidFill>
            <a:srgbClr val="1B7A8A">
              <a:alpha val="25000"/>
            </a:srgbClr>
          </a:solidFill>
          <a:ln w="12700">
            <a:solidFill>
              <a:srgbClr val="1B7A8A"/>
            </a:solidFill>
            <a:prstDash val="solid"/>
          </a:ln>
        </p:spPr>
        <p:txBody>
          <a:bodyPr/>
          <a:lstStyle/>
          <a:p>
            <a:endParaRPr lang="en-US"/>
          </a:p>
        </p:txBody>
      </p:sp>
      <p:sp>
        <p:nvSpPr>
          <p:cNvPr id="4" name="Shape 2"/>
          <p:cNvSpPr/>
          <p:nvPr/>
        </p:nvSpPr>
        <p:spPr>
          <a:xfrm>
            <a:off x="7772400" y="2926080"/>
            <a:ext cx="1828800" cy="1828800"/>
          </a:xfrm>
          <a:prstGeom prst="ellipse">
            <a:avLst/>
          </a:prstGeom>
          <a:solidFill>
            <a:srgbClr val="2EC4B6">
              <a:alpha val="20000"/>
            </a:srgbClr>
          </a:solidFill>
          <a:ln w="12700">
            <a:solidFill>
              <a:srgbClr val="2EC4B6"/>
            </a:solidFill>
            <a:prstDash val="solid"/>
          </a:ln>
        </p:spPr>
        <p:txBody>
          <a:bodyPr/>
          <a:lstStyle/>
          <a:p>
            <a:endParaRPr lang="en-US"/>
          </a:p>
        </p:txBody>
      </p:sp>
      <p:sp>
        <p:nvSpPr>
          <p:cNvPr id="5" name="Text 3"/>
          <p:cNvSpPr/>
          <p:nvPr/>
        </p:nvSpPr>
        <p:spPr>
          <a:xfrm>
            <a:off x="457200" y="640080"/>
            <a:ext cx="8229600" cy="365760"/>
          </a:xfrm>
          <a:prstGeom prst="rect">
            <a:avLst/>
          </a:prstGeom>
          <a:noFill/>
          <a:ln/>
        </p:spPr>
        <p:txBody>
          <a:bodyPr wrap="square" rtlCol="0" anchor="ctr"/>
          <a:lstStyle/>
          <a:p>
            <a:pPr marL="0" indent="0">
              <a:buNone/>
            </a:pPr>
            <a:r>
              <a:rPr lang="en-US" sz="1000" b="1" kern="0" spc="300" dirty="0">
                <a:solidFill>
                  <a:srgbClr val="2EC4B6"/>
                </a:solidFill>
                <a:latin typeface="Calibri" pitchFamily="34" charset="0"/>
                <a:ea typeface="Calibri" pitchFamily="34" charset="-122"/>
                <a:cs typeface="Calibri" pitchFamily="34" charset="-120"/>
              </a:rPr>
              <a:t>NATURAL LANGUAGE PROCESSING — FINAL PROJECT</a:t>
            </a:r>
            <a:endParaRPr lang="en-US" sz="1000" dirty="0"/>
          </a:p>
        </p:txBody>
      </p:sp>
      <p:sp>
        <p:nvSpPr>
          <p:cNvPr id="6" name="Text 4"/>
          <p:cNvSpPr/>
          <p:nvPr/>
        </p:nvSpPr>
        <p:spPr>
          <a:xfrm>
            <a:off x="457200" y="1097280"/>
            <a:ext cx="7772400" cy="201168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Abstractive Arabic</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Text Summarization</a:t>
            </a:r>
            <a:endParaRPr lang="en-US" sz="3800" dirty="0"/>
          </a:p>
        </p:txBody>
      </p:sp>
      <p:sp>
        <p:nvSpPr>
          <p:cNvPr id="7" name="Text 5"/>
          <p:cNvSpPr/>
          <p:nvPr/>
        </p:nvSpPr>
        <p:spPr>
          <a:xfrm>
            <a:off x="457200" y="3108960"/>
            <a:ext cx="7772400" cy="457200"/>
          </a:xfrm>
          <a:prstGeom prst="rect">
            <a:avLst/>
          </a:prstGeom>
          <a:noFill/>
          <a:ln/>
        </p:spPr>
        <p:txBody>
          <a:bodyPr wrap="square" rtlCol="0" anchor="ctr"/>
          <a:lstStyle/>
          <a:p>
            <a:pPr marL="0" indent="0">
              <a:buNone/>
            </a:pPr>
            <a:r>
              <a:rPr lang="en-US" sz="1500" dirty="0">
                <a:solidFill>
                  <a:srgbClr val="D6E8EE"/>
                </a:solidFill>
                <a:latin typeface="Calibri" pitchFamily="34" charset="0"/>
                <a:ea typeface="Calibri" pitchFamily="34" charset="-122"/>
                <a:cs typeface="Calibri" pitchFamily="34" charset="-120"/>
              </a:rPr>
              <a:t>Using Seq2Seq Models with Attention &amp; AraBERT Embeddings</a:t>
            </a:r>
            <a:endParaRPr lang="en-US" sz="1500" dirty="0"/>
          </a:p>
        </p:txBody>
      </p:sp>
      <p:sp>
        <p:nvSpPr>
          <p:cNvPr id="8" name="Shape 6"/>
          <p:cNvSpPr/>
          <p:nvPr/>
        </p:nvSpPr>
        <p:spPr>
          <a:xfrm>
            <a:off x="457200" y="3840480"/>
            <a:ext cx="2743200" cy="36576"/>
          </a:xfrm>
          <a:prstGeom prst="rect">
            <a:avLst/>
          </a:prstGeom>
          <a:solidFill>
            <a:srgbClr val="2EC4B6"/>
          </a:solidFill>
          <a:ln w="12700">
            <a:solidFill>
              <a:srgbClr val="2EC4B6"/>
            </a:solidFill>
            <a:prstDash val="solid"/>
          </a:ln>
        </p:spPr>
        <p:txBody>
          <a:bodyPr/>
          <a:lstStyle/>
          <a:p>
            <a:endParaRPr lang="en-US"/>
          </a:p>
        </p:txBody>
      </p:sp>
      <p:sp>
        <p:nvSpPr>
          <p:cNvPr id="9" name="Text 7"/>
          <p:cNvSpPr/>
          <p:nvPr/>
        </p:nvSpPr>
        <p:spPr>
          <a:xfrm>
            <a:off x="457200" y="4069080"/>
            <a:ext cx="8229600" cy="320040"/>
          </a:xfrm>
          <a:prstGeom prst="rect">
            <a:avLst/>
          </a:prstGeom>
          <a:noFill/>
          <a:ln/>
        </p:spPr>
        <p:txBody>
          <a:bodyPr wrap="square" lIns="91440" tIns="45720" rIns="91440" bIns="45720" rtlCol="0" anchor="ctr"/>
          <a:lstStyle/>
          <a:p>
            <a:pPr marL="0" indent="0">
              <a:buNone/>
            </a:pPr>
            <a:r>
              <a:rPr lang="en-US" sz="1200" dirty="0">
                <a:solidFill>
                  <a:srgbClr val="8BAAB8"/>
                </a:solidFill>
                <a:latin typeface="Calibri"/>
                <a:ea typeface="Calibri"/>
                <a:cs typeface="Calibri"/>
              </a:rPr>
              <a:t>Bara’ Al Smadi			Omar Kayyali			Hamza Al </a:t>
            </a:r>
            <a:r>
              <a:rPr lang="en-US" sz="1200" dirty="0" err="1">
                <a:solidFill>
                  <a:srgbClr val="8BAAB8"/>
                </a:solidFill>
                <a:latin typeface="Calibri"/>
                <a:ea typeface="Calibri"/>
                <a:cs typeface="Calibri"/>
              </a:rPr>
              <a:t>Khuzai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0D1B2A"/>
                </a:solidFill>
                <a:latin typeface="Georgia" pitchFamily="34" charset="0"/>
                <a:ea typeface="Georgia" pitchFamily="34" charset="-122"/>
                <a:cs typeface="Georgia" pitchFamily="34" charset="-120"/>
              </a:rPr>
              <a:t>Presentation Roadmap</a:t>
            </a:r>
            <a:endParaRPr lang="en-US" sz="2800" dirty="0"/>
          </a:p>
        </p:txBody>
      </p:sp>
      <p:sp>
        <p:nvSpPr>
          <p:cNvPr id="3" name="Shape 1"/>
          <p:cNvSpPr/>
          <p:nvPr/>
        </p:nvSpPr>
        <p:spPr>
          <a:xfrm>
            <a:off x="457200" y="1051560"/>
            <a:ext cx="8229600" cy="621792"/>
          </a:xfrm>
          <a:prstGeom prst="rect">
            <a:avLst/>
          </a:prstGeom>
          <a:solidFill>
            <a:srgbClr val="FFFFFF"/>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4" name="Shape 2"/>
          <p:cNvSpPr/>
          <p:nvPr/>
        </p:nvSpPr>
        <p:spPr>
          <a:xfrm>
            <a:off x="548640" y="1143000"/>
            <a:ext cx="502920" cy="411480"/>
          </a:xfrm>
          <a:prstGeom prst="roundRect">
            <a:avLst>
              <a:gd name="adj" fmla="val 15556"/>
            </a:avLst>
          </a:prstGeom>
          <a:solidFill>
            <a:srgbClr val="1B7A8A"/>
          </a:solidFill>
          <a:ln w="12700">
            <a:solidFill>
              <a:srgbClr val="1B7A8A"/>
            </a:solidFill>
            <a:prstDash val="solid"/>
          </a:ln>
        </p:spPr>
        <p:txBody>
          <a:bodyPr/>
          <a:lstStyle/>
          <a:p>
            <a:endParaRPr lang="en-US"/>
          </a:p>
        </p:txBody>
      </p:sp>
      <p:sp>
        <p:nvSpPr>
          <p:cNvPr id="5" name="Text 3"/>
          <p:cNvSpPr/>
          <p:nvPr/>
        </p:nvSpPr>
        <p:spPr>
          <a:xfrm>
            <a:off x="548640" y="1143000"/>
            <a:ext cx="5029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1234440" y="1161288"/>
            <a:ext cx="4754880" cy="38404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Problem &amp; Motivation</a:t>
            </a:r>
            <a:endParaRPr lang="en-US" sz="1400" dirty="0"/>
          </a:p>
        </p:txBody>
      </p:sp>
      <p:sp>
        <p:nvSpPr>
          <p:cNvPr id="7" name="Text 5"/>
          <p:cNvSpPr/>
          <p:nvPr/>
        </p:nvSpPr>
        <p:spPr>
          <a:xfrm>
            <a:off x="6126480" y="1161288"/>
            <a:ext cx="2377440" cy="384048"/>
          </a:xfrm>
          <a:prstGeom prst="rect">
            <a:avLst/>
          </a:prstGeom>
          <a:noFill/>
          <a:ln/>
        </p:spPr>
        <p:txBody>
          <a:bodyPr wrap="square" lIns="0" tIns="0" rIns="0" bIns="0" rtlCol="0" anchor="ctr"/>
          <a:lstStyle/>
          <a:p>
            <a:pPr marL="0" indent="0" algn="r">
              <a:buNone/>
            </a:pPr>
            <a:r>
              <a:rPr lang="en-US" sz="1100" dirty="0">
                <a:solidFill>
                  <a:srgbClr val="8BAAB8"/>
                </a:solidFill>
                <a:latin typeface="Calibri"/>
                <a:ea typeface="Calibri"/>
                <a:cs typeface="Calibri"/>
              </a:rPr>
              <a:t>Omar  </a:t>
            </a:r>
            <a:endParaRPr lang="en-US" sz="1100" dirty="0"/>
          </a:p>
        </p:txBody>
      </p:sp>
      <p:sp>
        <p:nvSpPr>
          <p:cNvPr id="8" name="Shape 6"/>
          <p:cNvSpPr/>
          <p:nvPr/>
        </p:nvSpPr>
        <p:spPr>
          <a:xfrm>
            <a:off x="457200" y="1801368"/>
            <a:ext cx="8229600" cy="621792"/>
          </a:xfrm>
          <a:prstGeom prst="rect">
            <a:avLst/>
          </a:prstGeom>
          <a:solidFill>
            <a:srgbClr val="FFFFFF"/>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9" name="Shape 7"/>
          <p:cNvSpPr/>
          <p:nvPr/>
        </p:nvSpPr>
        <p:spPr>
          <a:xfrm>
            <a:off x="548640" y="1892808"/>
            <a:ext cx="502920" cy="411480"/>
          </a:xfrm>
          <a:prstGeom prst="roundRect">
            <a:avLst>
              <a:gd name="adj" fmla="val 15556"/>
            </a:avLst>
          </a:prstGeom>
          <a:solidFill>
            <a:srgbClr val="1B7A8A"/>
          </a:solidFill>
          <a:ln w="12700">
            <a:solidFill>
              <a:srgbClr val="1B7A8A"/>
            </a:solidFill>
            <a:prstDash val="solid"/>
          </a:ln>
        </p:spPr>
        <p:txBody>
          <a:bodyPr/>
          <a:lstStyle/>
          <a:p>
            <a:endParaRPr lang="en-US"/>
          </a:p>
        </p:txBody>
      </p:sp>
      <p:sp>
        <p:nvSpPr>
          <p:cNvPr id="10" name="Text 8"/>
          <p:cNvSpPr/>
          <p:nvPr/>
        </p:nvSpPr>
        <p:spPr>
          <a:xfrm>
            <a:off x="548640" y="1892808"/>
            <a:ext cx="5029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1234440" y="1911096"/>
            <a:ext cx="4754880" cy="38404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&amp; Preprocessing</a:t>
            </a:r>
            <a:endParaRPr lang="en-US" sz="1400" dirty="0"/>
          </a:p>
        </p:txBody>
      </p:sp>
      <p:sp>
        <p:nvSpPr>
          <p:cNvPr id="12" name="Text 10"/>
          <p:cNvSpPr/>
          <p:nvPr/>
        </p:nvSpPr>
        <p:spPr>
          <a:xfrm>
            <a:off x="6126480" y="1911096"/>
            <a:ext cx="2377440" cy="384048"/>
          </a:xfrm>
          <a:prstGeom prst="rect">
            <a:avLst/>
          </a:prstGeom>
          <a:noFill/>
          <a:ln/>
        </p:spPr>
        <p:txBody>
          <a:bodyPr wrap="square" lIns="0" tIns="0" rIns="0" bIns="0" rtlCol="0" anchor="ctr"/>
          <a:lstStyle/>
          <a:p>
            <a:pPr algn="r"/>
            <a:r>
              <a:rPr lang="en-US" sz="1100" dirty="0">
                <a:solidFill>
                  <a:srgbClr val="8BAAB8"/>
                </a:solidFill>
                <a:latin typeface="Calibri"/>
                <a:ea typeface="Calibri"/>
                <a:cs typeface="Calibri"/>
              </a:rPr>
              <a:t>Hamza  </a:t>
            </a:r>
            <a:endParaRPr lang="en-US" sz="1100" dirty="0">
              <a:latin typeface="Calibri"/>
              <a:ea typeface="Calibri"/>
              <a:cs typeface="Calibri"/>
            </a:endParaRPr>
          </a:p>
        </p:txBody>
      </p:sp>
      <p:sp>
        <p:nvSpPr>
          <p:cNvPr id="13" name="Shape 11"/>
          <p:cNvSpPr/>
          <p:nvPr/>
        </p:nvSpPr>
        <p:spPr>
          <a:xfrm>
            <a:off x="457200" y="2551176"/>
            <a:ext cx="8229600" cy="621792"/>
          </a:xfrm>
          <a:prstGeom prst="rect">
            <a:avLst/>
          </a:prstGeom>
          <a:solidFill>
            <a:srgbClr val="FFFFFF"/>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14" name="Shape 12"/>
          <p:cNvSpPr/>
          <p:nvPr/>
        </p:nvSpPr>
        <p:spPr>
          <a:xfrm>
            <a:off x="548640" y="2642616"/>
            <a:ext cx="502920" cy="411480"/>
          </a:xfrm>
          <a:prstGeom prst="roundRect">
            <a:avLst>
              <a:gd name="adj" fmla="val 15556"/>
            </a:avLst>
          </a:prstGeom>
          <a:solidFill>
            <a:srgbClr val="2EC4B6"/>
          </a:solidFill>
          <a:ln w="12700">
            <a:solidFill>
              <a:srgbClr val="2EC4B6"/>
            </a:solidFill>
            <a:prstDash val="solid"/>
          </a:ln>
        </p:spPr>
        <p:txBody>
          <a:bodyPr/>
          <a:lstStyle/>
          <a:p>
            <a:endParaRPr lang="en-US"/>
          </a:p>
        </p:txBody>
      </p:sp>
      <p:sp>
        <p:nvSpPr>
          <p:cNvPr id="15" name="Text 13"/>
          <p:cNvSpPr/>
          <p:nvPr/>
        </p:nvSpPr>
        <p:spPr>
          <a:xfrm>
            <a:off x="548640" y="2642616"/>
            <a:ext cx="5029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6" name="Text 14"/>
          <p:cNvSpPr/>
          <p:nvPr/>
        </p:nvSpPr>
        <p:spPr>
          <a:xfrm>
            <a:off x="1234440" y="2660904"/>
            <a:ext cx="4754880" cy="38404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Model Architecture</a:t>
            </a:r>
            <a:endParaRPr lang="en-US" sz="1400" dirty="0"/>
          </a:p>
        </p:txBody>
      </p:sp>
      <p:sp>
        <p:nvSpPr>
          <p:cNvPr id="17" name="Text 15"/>
          <p:cNvSpPr/>
          <p:nvPr/>
        </p:nvSpPr>
        <p:spPr>
          <a:xfrm>
            <a:off x="6126480" y="2660904"/>
            <a:ext cx="2377440" cy="384048"/>
          </a:xfrm>
          <a:prstGeom prst="rect">
            <a:avLst/>
          </a:prstGeom>
          <a:noFill/>
          <a:ln/>
        </p:spPr>
        <p:txBody>
          <a:bodyPr wrap="square" lIns="0" tIns="0" rIns="0" bIns="0" rtlCol="0" anchor="ctr"/>
          <a:lstStyle/>
          <a:p>
            <a:pPr marL="0" indent="0" algn="r">
              <a:buNone/>
            </a:pPr>
            <a:r>
              <a:rPr lang="en-US" sz="1100" dirty="0">
                <a:solidFill>
                  <a:srgbClr val="8BAAB8"/>
                </a:solidFill>
                <a:latin typeface="Calibri"/>
                <a:ea typeface="Calibri"/>
                <a:cs typeface="Calibri"/>
              </a:rPr>
              <a:t>Bara’   </a:t>
            </a:r>
            <a:endParaRPr lang="en-US" sz="1100" dirty="0">
              <a:latin typeface="Calibri"/>
              <a:ea typeface="Calibri"/>
              <a:cs typeface="Calibri"/>
            </a:endParaRPr>
          </a:p>
        </p:txBody>
      </p:sp>
      <p:sp>
        <p:nvSpPr>
          <p:cNvPr id="18" name="Shape 16"/>
          <p:cNvSpPr/>
          <p:nvPr/>
        </p:nvSpPr>
        <p:spPr>
          <a:xfrm>
            <a:off x="457200" y="3300984"/>
            <a:ext cx="8229600" cy="621792"/>
          </a:xfrm>
          <a:prstGeom prst="rect">
            <a:avLst/>
          </a:prstGeom>
          <a:solidFill>
            <a:srgbClr val="FFFFFF"/>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19" name="Shape 17"/>
          <p:cNvSpPr/>
          <p:nvPr/>
        </p:nvSpPr>
        <p:spPr>
          <a:xfrm>
            <a:off x="548640" y="3392424"/>
            <a:ext cx="502920" cy="411480"/>
          </a:xfrm>
          <a:prstGeom prst="roundRect">
            <a:avLst>
              <a:gd name="adj" fmla="val 15556"/>
            </a:avLst>
          </a:prstGeom>
          <a:solidFill>
            <a:srgbClr val="2EC4B6"/>
          </a:solidFill>
          <a:ln w="12700">
            <a:solidFill>
              <a:srgbClr val="2EC4B6"/>
            </a:solidFill>
            <a:prstDash val="solid"/>
          </a:ln>
        </p:spPr>
        <p:txBody>
          <a:bodyPr/>
          <a:lstStyle/>
          <a:p>
            <a:endParaRPr lang="en-US"/>
          </a:p>
        </p:txBody>
      </p:sp>
      <p:sp>
        <p:nvSpPr>
          <p:cNvPr id="20" name="Text 18"/>
          <p:cNvSpPr/>
          <p:nvPr/>
        </p:nvSpPr>
        <p:spPr>
          <a:xfrm>
            <a:off x="548640" y="3392424"/>
            <a:ext cx="5029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1" name="Text 19"/>
          <p:cNvSpPr/>
          <p:nvPr/>
        </p:nvSpPr>
        <p:spPr>
          <a:xfrm>
            <a:off x="1234440" y="3410712"/>
            <a:ext cx="4754880" cy="38404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Training &amp; Results</a:t>
            </a:r>
            <a:endParaRPr lang="en-US" sz="1400" dirty="0"/>
          </a:p>
        </p:txBody>
      </p:sp>
      <p:sp>
        <p:nvSpPr>
          <p:cNvPr id="22" name="Text 20"/>
          <p:cNvSpPr/>
          <p:nvPr/>
        </p:nvSpPr>
        <p:spPr>
          <a:xfrm>
            <a:off x="6126480" y="3410712"/>
            <a:ext cx="2377440" cy="384048"/>
          </a:xfrm>
          <a:prstGeom prst="rect">
            <a:avLst/>
          </a:prstGeom>
          <a:noFill/>
          <a:ln/>
        </p:spPr>
        <p:txBody>
          <a:bodyPr wrap="square" lIns="0" tIns="0" rIns="0" bIns="0" rtlCol="0" anchor="ctr"/>
          <a:lstStyle/>
          <a:p>
            <a:pPr marL="0" indent="0" algn="r">
              <a:buNone/>
            </a:pPr>
            <a:r>
              <a:rPr lang="en-US" sz="1100" dirty="0">
                <a:solidFill>
                  <a:srgbClr val="8BAAB8"/>
                </a:solidFill>
                <a:latin typeface="Calibri"/>
                <a:ea typeface="Calibri"/>
                <a:cs typeface="Calibri"/>
              </a:rPr>
              <a:t>Bara’  </a:t>
            </a:r>
            <a:endParaRPr lang="en-US" sz="1100" dirty="0">
              <a:latin typeface="Calibri"/>
              <a:ea typeface="Calibri"/>
              <a:cs typeface="Calibri"/>
            </a:endParaRPr>
          </a:p>
        </p:txBody>
      </p:sp>
      <p:sp>
        <p:nvSpPr>
          <p:cNvPr id="23" name="Shape 21"/>
          <p:cNvSpPr/>
          <p:nvPr/>
        </p:nvSpPr>
        <p:spPr>
          <a:xfrm>
            <a:off x="457200" y="4050792"/>
            <a:ext cx="8229600" cy="621792"/>
          </a:xfrm>
          <a:prstGeom prst="rect">
            <a:avLst/>
          </a:prstGeom>
          <a:solidFill>
            <a:srgbClr val="FFFFFF"/>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24" name="Shape 22"/>
          <p:cNvSpPr/>
          <p:nvPr/>
        </p:nvSpPr>
        <p:spPr>
          <a:xfrm>
            <a:off x="548640" y="4142232"/>
            <a:ext cx="502920" cy="411480"/>
          </a:xfrm>
          <a:prstGeom prst="roundRect">
            <a:avLst>
              <a:gd name="adj" fmla="val 15556"/>
            </a:avLst>
          </a:prstGeom>
          <a:solidFill>
            <a:srgbClr val="0D1B2A"/>
          </a:solidFill>
          <a:ln w="12700">
            <a:solidFill>
              <a:srgbClr val="0D1B2A"/>
            </a:solidFill>
            <a:prstDash val="solid"/>
          </a:ln>
        </p:spPr>
        <p:txBody>
          <a:bodyPr/>
          <a:lstStyle/>
          <a:p>
            <a:endParaRPr lang="en-US"/>
          </a:p>
        </p:txBody>
      </p:sp>
      <p:sp>
        <p:nvSpPr>
          <p:cNvPr id="25" name="Text 23"/>
          <p:cNvSpPr/>
          <p:nvPr/>
        </p:nvSpPr>
        <p:spPr>
          <a:xfrm>
            <a:off x="548640" y="4142232"/>
            <a:ext cx="5029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6" name="Text 24"/>
          <p:cNvSpPr/>
          <p:nvPr/>
        </p:nvSpPr>
        <p:spPr>
          <a:xfrm>
            <a:off x="1234440" y="4160520"/>
            <a:ext cx="4754880" cy="38404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Analysis &amp; Conclusion</a:t>
            </a:r>
            <a:endParaRPr lang="en-US" sz="1400" dirty="0"/>
          </a:p>
        </p:txBody>
      </p:sp>
      <p:sp>
        <p:nvSpPr>
          <p:cNvPr id="27" name="Text 25"/>
          <p:cNvSpPr/>
          <p:nvPr/>
        </p:nvSpPr>
        <p:spPr>
          <a:xfrm>
            <a:off x="6126480" y="4160520"/>
            <a:ext cx="2377440" cy="384048"/>
          </a:xfrm>
          <a:prstGeom prst="rect">
            <a:avLst/>
          </a:prstGeom>
          <a:noFill/>
          <a:ln/>
        </p:spPr>
        <p:txBody>
          <a:bodyPr wrap="square" lIns="0" tIns="0" rIns="0" bIns="0" rtlCol="0" anchor="ctr"/>
          <a:lstStyle/>
          <a:p>
            <a:pPr marL="0" indent="0" algn="r">
              <a:buNone/>
            </a:pPr>
            <a:r>
              <a:rPr lang="en-US" sz="1100" dirty="0">
                <a:solidFill>
                  <a:srgbClr val="8BAAB8"/>
                </a:solidFill>
                <a:latin typeface="Calibri"/>
                <a:ea typeface="Calibri"/>
                <a:cs typeface="Calibri"/>
              </a:rPr>
              <a:t>Omar  </a:t>
            </a:r>
            <a:endParaRPr lang="en-US" sz="1100" dirty="0">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457200" y="109728"/>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Problem &amp; Motivation</a:t>
            </a:r>
            <a:endParaRPr lang="en-US" sz="2400" dirty="0"/>
          </a:p>
        </p:txBody>
      </p:sp>
      <p:sp>
        <p:nvSpPr>
          <p:cNvPr id="4" name="Shape 2"/>
          <p:cNvSpPr/>
          <p:nvPr/>
        </p:nvSpPr>
        <p:spPr>
          <a:xfrm>
            <a:off x="274320" y="960120"/>
            <a:ext cx="4114800" cy="393192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411480" y="1051560"/>
            <a:ext cx="3840480" cy="457200"/>
          </a:xfrm>
          <a:prstGeom prst="rect">
            <a:avLst/>
          </a:prstGeom>
          <a:noFill/>
          <a:ln/>
        </p:spPr>
        <p:txBody>
          <a:bodyPr wrap="square" rtlCol="0" anchor="ctr"/>
          <a:lstStyle/>
          <a:p>
            <a:pPr marL="0" indent="0">
              <a:buNone/>
            </a:pPr>
            <a:r>
              <a:rPr lang="en-US" sz="1300" b="1" dirty="0">
                <a:solidFill>
                  <a:srgbClr val="1B7A8A"/>
                </a:solidFill>
                <a:latin typeface="Calibri" pitchFamily="34" charset="0"/>
                <a:ea typeface="Calibri" pitchFamily="34" charset="-122"/>
                <a:cs typeface="Calibri" pitchFamily="34" charset="-120"/>
              </a:rPr>
              <a:t>What is Abstractive Summarization?</a:t>
            </a:r>
            <a:endParaRPr lang="en-US" sz="1300" dirty="0"/>
          </a:p>
        </p:txBody>
      </p:sp>
      <p:sp>
        <p:nvSpPr>
          <p:cNvPr id="6" name="Text 4"/>
          <p:cNvSpPr/>
          <p:nvPr/>
        </p:nvSpPr>
        <p:spPr>
          <a:xfrm>
            <a:off x="411480" y="1554480"/>
            <a:ext cx="3840480" cy="3108960"/>
          </a:xfrm>
          <a:prstGeom prst="rect">
            <a:avLst/>
          </a:prstGeom>
          <a:noFill/>
          <a:ln/>
        </p:spPr>
        <p:txBody>
          <a:bodyPr wrap="square" rtlCol="0" anchor="ctr"/>
          <a:lstStyle/>
          <a:p>
            <a:pPr marL="0" indent="0">
              <a:spcAft>
                <a:spcPts val="600"/>
              </a:spcAft>
              <a:buNone/>
            </a:pPr>
            <a:r>
              <a:rPr lang="en-US" sz="1200" dirty="0">
                <a:solidFill>
                  <a:srgbClr val="0D1B2A"/>
                </a:solidFill>
                <a:latin typeface="Calibri" pitchFamily="34" charset="0"/>
                <a:ea typeface="Calibri" pitchFamily="34" charset="-122"/>
                <a:cs typeface="Calibri" pitchFamily="34" charset="-120"/>
              </a:rPr>
              <a:t>Unlike extractive methods that copy sentences, abstractive summarization generates entirely new text — capturing the meaning in fewer words.
Think of it as having a model 'understand' the article and then rewrite it concisely, the way a human editor would.</a:t>
            </a:r>
            <a:endParaRPr lang="en-US" sz="1200" dirty="0"/>
          </a:p>
        </p:txBody>
      </p:sp>
      <p:sp>
        <p:nvSpPr>
          <p:cNvPr id="7" name="Shape 5"/>
          <p:cNvSpPr/>
          <p:nvPr/>
        </p:nvSpPr>
        <p:spPr>
          <a:xfrm>
            <a:off x="4709160" y="960120"/>
            <a:ext cx="4114800" cy="393192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8" name="Text 6"/>
          <p:cNvSpPr/>
          <p:nvPr/>
        </p:nvSpPr>
        <p:spPr>
          <a:xfrm>
            <a:off x="4846320" y="1051560"/>
            <a:ext cx="3840480" cy="457200"/>
          </a:xfrm>
          <a:prstGeom prst="rect">
            <a:avLst/>
          </a:prstGeom>
          <a:noFill/>
          <a:ln/>
        </p:spPr>
        <p:txBody>
          <a:bodyPr wrap="square" rtlCol="0" anchor="ctr"/>
          <a:lstStyle/>
          <a:p>
            <a:pPr marL="0" indent="0">
              <a:buNone/>
            </a:pPr>
            <a:r>
              <a:rPr lang="en-US" sz="1300" b="1" dirty="0">
                <a:solidFill>
                  <a:srgbClr val="1B7A8A"/>
                </a:solidFill>
                <a:latin typeface="Calibri" pitchFamily="34" charset="0"/>
                <a:ea typeface="Calibri" pitchFamily="34" charset="-122"/>
                <a:cs typeface="Calibri" pitchFamily="34" charset="-120"/>
              </a:rPr>
              <a:t>Why Arabic?</a:t>
            </a:r>
            <a:endParaRPr lang="en-US" sz="1300" dirty="0"/>
          </a:p>
        </p:txBody>
      </p:sp>
      <p:sp>
        <p:nvSpPr>
          <p:cNvPr id="9" name="Text 7"/>
          <p:cNvSpPr/>
          <p:nvPr/>
        </p:nvSpPr>
        <p:spPr>
          <a:xfrm>
            <a:off x="4846320" y="1554480"/>
            <a:ext cx="3840480" cy="3108960"/>
          </a:xfrm>
          <a:prstGeom prst="rect">
            <a:avLst/>
          </a:prstGeom>
          <a:noFill/>
          <a:ln/>
        </p:spPr>
        <p:txBody>
          <a:bodyPr wrap="square" rtlCol="0" anchor="ctr"/>
          <a:lstStyle/>
          <a:p>
            <a:pPr marL="342900" indent="-342900">
              <a:spcAft>
                <a:spcPts val="800"/>
              </a:spcAft>
              <a:buSzPct val="100000"/>
              <a:buChar char="•"/>
            </a:pPr>
            <a:r>
              <a:rPr lang="en-US" sz="1200" dirty="0">
                <a:solidFill>
                  <a:srgbClr val="0D1B2A"/>
                </a:solidFill>
                <a:latin typeface="Calibri" pitchFamily="34" charset="0"/>
                <a:ea typeface="Calibri" pitchFamily="34" charset="-122"/>
                <a:cs typeface="Calibri" pitchFamily="34" charset="-120"/>
              </a:rPr>
              <a:t>400M+ native speakers — 4th most spoken language</a:t>
            </a:r>
            <a:endParaRPr lang="en-US" sz="1200" dirty="0"/>
          </a:p>
          <a:p>
            <a:pPr marL="342900" indent="-342900">
              <a:spcAft>
                <a:spcPts val="800"/>
              </a:spcAft>
              <a:buSzPct val="100000"/>
              <a:buChar char="•"/>
            </a:pPr>
            <a:r>
              <a:rPr lang="en-US" sz="1200" dirty="0">
                <a:solidFill>
                  <a:srgbClr val="0D1B2A"/>
                </a:solidFill>
                <a:latin typeface="Calibri" pitchFamily="34" charset="0"/>
                <a:ea typeface="Calibri" pitchFamily="34" charset="-122"/>
                <a:cs typeface="Calibri" pitchFamily="34" charset="-120"/>
              </a:rPr>
              <a:t>Highly morphological — one root can yield hundreds of word forms</a:t>
            </a:r>
            <a:endParaRPr lang="en-US" sz="1200" dirty="0"/>
          </a:p>
          <a:p>
            <a:pPr marL="342900" indent="-342900">
              <a:spcAft>
                <a:spcPts val="800"/>
              </a:spcAft>
              <a:buSzPct val="100000"/>
              <a:buChar char="•"/>
            </a:pPr>
            <a:r>
              <a:rPr lang="en-US" sz="1200" dirty="0">
                <a:solidFill>
                  <a:srgbClr val="0D1B2A"/>
                </a:solidFill>
                <a:latin typeface="Calibri" pitchFamily="34" charset="0"/>
                <a:ea typeface="Calibri" pitchFamily="34" charset="-122"/>
                <a:cs typeface="Calibri" pitchFamily="34" charset="-120"/>
              </a:rPr>
              <a:t>Multiple dialects (Modern Standard, Egyptian, Gulf…)</a:t>
            </a:r>
            <a:endParaRPr lang="en-US" sz="1200" dirty="0"/>
          </a:p>
          <a:p>
            <a:pPr marL="342900" indent="-342900">
              <a:spcAft>
                <a:spcPts val="800"/>
              </a:spcAft>
              <a:buSzPct val="100000"/>
              <a:buChar char="•"/>
            </a:pPr>
            <a:r>
              <a:rPr lang="en-US" sz="1200" dirty="0">
                <a:solidFill>
                  <a:srgbClr val="0D1B2A"/>
                </a:solidFill>
                <a:latin typeface="Calibri" pitchFamily="34" charset="0"/>
                <a:ea typeface="Calibri" pitchFamily="34" charset="-122"/>
                <a:cs typeface="Calibri" pitchFamily="34" charset="-120"/>
              </a:rPr>
              <a:t>Far fewer NLP resources than English — research impact is high</a:t>
            </a:r>
            <a:endParaRPr lang="en-US" sz="1200" dirty="0"/>
          </a:p>
          <a:p>
            <a:pPr marL="342900" indent="-342900">
              <a:spcAft>
                <a:spcPts val="800"/>
              </a:spcAft>
              <a:buSzPct val="100000"/>
              <a:buChar char="•"/>
            </a:pPr>
            <a:r>
              <a:rPr lang="en-US" sz="1200" dirty="0">
                <a:solidFill>
                  <a:srgbClr val="0D1B2A"/>
                </a:solidFill>
                <a:latin typeface="Calibri" pitchFamily="34" charset="0"/>
                <a:ea typeface="Calibri" pitchFamily="34" charset="-122"/>
                <a:cs typeface="Calibri" pitchFamily="34" charset="-120"/>
              </a:rPr>
              <a:t>Growing volume of digital Arabic news and documents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457200" y="109728"/>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Datasets Used</a:t>
            </a:r>
            <a:endParaRPr lang="en-US" sz="2400" dirty="0"/>
          </a:p>
        </p:txBody>
      </p:sp>
      <p:sp>
        <p:nvSpPr>
          <p:cNvPr id="4" name="Shape 2"/>
          <p:cNvSpPr/>
          <p:nvPr/>
        </p:nvSpPr>
        <p:spPr>
          <a:xfrm>
            <a:off x="274320" y="1005840"/>
            <a:ext cx="4114800" cy="114300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274320" y="1005840"/>
            <a:ext cx="54864" cy="1143000"/>
          </a:xfrm>
          <a:prstGeom prst="rect">
            <a:avLst/>
          </a:prstGeom>
          <a:solidFill>
            <a:srgbClr val="2EC4B6"/>
          </a:solidFill>
          <a:ln w="12700">
            <a:solidFill>
              <a:srgbClr val="2EC4B6"/>
            </a:solidFill>
            <a:prstDash val="solid"/>
          </a:ln>
        </p:spPr>
        <p:txBody>
          <a:bodyPr/>
          <a:lstStyle/>
          <a:p>
            <a:endParaRPr lang="en-US"/>
          </a:p>
        </p:txBody>
      </p:sp>
      <p:sp>
        <p:nvSpPr>
          <p:cNvPr id="6" name="Text 4"/>
          <p:cNvSpPr/>
          <p:nvPr/>
        </p:nvSpPr>
        <p:spPr>
          <a:xfrm>
            <a:off x="438912" y="1097280"/>
            <a:ext cx="388620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SumArabic</a:t>
            </a:r>
            <a:endParaRPr lang="en-US" sz="1300" dirty="0"/>
          </a:p>
        </p:txBody>
      </p:sp>
      <p:sp>
        <p:nvSpPr>
          <p:cNvPr id="7" name="Text 5"/>
          <p:cNvSpPr/>
          <p:nvPr/>
        </p:nvSpPr>
        <p:spPr>
          <a:xfrm>
            <a:off x="438912" y="1417320"/>
            <a:ext cx="3886200" cy="256032"/>
          </a:xfrm>
          <a:prstGeom prst="rect">
            <a:avLst/>
          </a:prstGeom>
          <a:noFill/>
          <a:ln/>
        </p:spPr>
        <p:txBody>
          <a:bodyPr wrap="square" lIns="0" tIns="0" rIns="0" bIns="0" rtlCol="0" anchor="ctr"/>
          <a:lstStyle/>
          <a:p>
            <a:pPr marL="0" indent="0">
              <a:buNone/>
            </a:pPr>
            <a:r>
              <a:rPr lang="en-US" sz="1100" b="1" dirty="0">
                <a:solidFill>
                  <a:srgbClr val="1B7A8A"/>
                </a:solidFill>
                <a:latin typeface="Calibri" pitchFamily="34" charset="0"/>
                <a:ea typeface="Calibri" pitchFamily="34" charset="-122"/>
                <a:cs typeface="Calibri" pitchFamily="34" charset="-120"/>
              </a:rPr>
              <a:t>~84,000 examples</a:t>
            </a:r>
            <a:endParaRPr lang="en-US" sz="1100" dirty="0"/>
          </a:p>
        </p:txBody>
      </p:sp>
      <p:sp>
        <p:nvSpPr>
          <p:cNvPr id="8" name="Text 6"/>
          <p:cNvSpPr/>
          <p:nvPr/>
        </p:nvSpPr>
        <p:spPr>
          <a:xfrm>
            <a:off x="438912" y="1673352"/>
            <a:ext cx="3886200" cy="384048"/>
          </a:xfrm>
          <a:prstGeom prst="rect">
            <a:avLst/>
          </a:prstGeom>
          <a:noFill/>
          <a:ln/>
        </p:spPr>
        <p:txBody>
          <a:bodyPr wrap="square" lIns="0" tIns="0" rIns="0" bIns="0" rtlCol="0" anchor="ctr"/>
          <a:lstStyle/>
          <a:p>
            <a:pPr marL="0" indent="0">
              <a:buNone/>
            </a:pPr>
            <a:r>
              <a:rPr lang="en-US" sz="1000" dirty="0">
                <a:solidFill>
                  <a:srgbClr val="8BAAB8"/>
                </a:solidFill>
                <a:latin typeface="Calibri" pitchFamily="34" charset="0"/>
                <a:ea typeface="Calibri" pitchFamily="34" charset="-122"/>
                <a:cs typeface="Calibri" pitchFamily="34" charset="-120"/>
              </a:rPr>
              <a:t>News article–summary pairs (train/val/test JSONL)</a:t>
            </a:r>
            <a:endParaRPr lang="en-US" sz="1000" dirty="0"/>
          </a:p>
        </p:txBody>
      </p:sp>
      <p:sp>
        <p:nvSpPr>
          <p:cNvPr id="9" name="Shape 7"/>
          <p:cNvSpPr/>
          <p:nvPr/>
        </p:nvSpPr>
        <p:spPr>
          <a:xfrm>
            <a:off x="4709160" y="1005840"/>
            <a:ext cx="4114800" cy="114300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4709160" y="1005840"/>
            <a:ext cx="54864" cy="1143000"/>
          </a:xfrm>
          <a:prstGeom prst="rect">
            <a:avLst/>
          </a:prstGeom>
          <a:solidFill>
            <a:srgbClr val="2EC4B6"/>
          </a:solidFill>
          <a:ln w="12700">
            <a:solidFill>
              <a:srgbClr val="2EC4B6"/>
            </a:solidFill>
            <a:prstDash val="solid"/>
          </a:ln>
        </p:spPr>
        <p:txBody>
          <a:bodyPr/>
          <a:lstStyle/>
          <a:p>
            <a:endParaRPr lang="en-US"/>
          </a:p>
        </p:txBody>
      </p:sp>
      <p:sp>
        <p:nvSpPr>
          <p:cNvPr id="11" name="Text 9"/>
          <p:cNvSpPr/>
          <p:nvPr/>
        </p:nvSpPr>
        <p:spPr>
          <a:xfrm>
            <a:off x="4873752" y="1097280"/>
            <a:ext cx="388620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AraSum</a:t>
            </a:r>
            <a:endParaRPr lang="en-US" sz="1300" dirty="0"/>
          </a:p>
        </p:txBody>
      </p:sp>
      <p:sp>
        <p:nvSpPr>
          <p:cNvPr id="12" name="Text 10"/>
          <p:cNvSpPr/>
          <p:nvPr/>
        </p:nvSpPr>
        <p:spPr>
          <a:xfrm>
            <a:off x="4873752" y="1417320"/>
            <a:ext cx="3886200" cy="256032"/>
          </a:xfrm>
          <a:prstGeom prst="rect">
            <a:avLst/>
          </a:prstGeom>
          <a:noFill/>
          <a:ln/>
        </p:spPr>
        <p:txBody>
          <a:bodyPr wrap="square" lIns="0" tIns="0" rIns="0" bIns="0" rtlCol="0" anchor="ctr"/>
          <a:lstStyle/>
          <a:p>
            <a:pPr marL="0" indent="0">
              <a:buNone/>
            </a:pPr>
            <a:r>
              <a:rPr lang="en-US" sz="1100" b="1" dirty="0">
                <a:solidFill>
                  <a:srgbClr val="1B7A8A"/>
                </a:solidFill>
                <a:latin typeface="Calibri" pitchFamily="34" charset="0"/>
                <a:ea typeface="Calibri" pitchFamily="34" charset="-122"/>
                <a:cs typeface="Calibri" pitchFamily="34" charset="-120"/>
              </a:rPr>
              <a:t>~49,604 examples</a:t>
            </a:r>
            <a:endParaRPr lang="en-US" sz="1100" dirty="0"/>
          </a:p>
        </p:txBody>
      </p:sp>
      <p:sp>
        <p:nvSpPr>
          <p:cNvPr id="13" name="Text 11"/>
          <p:cNvSpPr/>
          <p:nvPr/>
        </p:nvSpPr>
        <p:spPr>
          <a:xfrm>
            <a:off x="4873752" y="1673352"/>
            <a:ext cx="3886200" cy="384048"/>
          </a:xfrm>
          <a:prstGeom prst="rect">
            <a:avLst/>
          </a:prstGeom>
          <a:noFill/>
          <a:ln/>
        </p:spPr>
        <p:txBody>
          <a:bodyPr wrap="square" lIns="0" tIns="0" rIns="0" bIns="0" rtlCol="0" anchor="ctr"/>
          <a:lstStyle/>
          <a:p>
            <a:pPr marL="0" indent="0">
              <a:buNone/>
            </a:pPr>
            <a:r>
              <a:rPr lang="en-US" sz="1000" dirty="0">
                <a:solidFill>
                  <a:srgbClr val="8BAAB8"/>
                </a:solidFill>
                <a:latin typeface="Calibri" pitchFamily="34" charset="0"/>
                <a:ea typeface="Calibri" pitchFamily="34" charset="-122"/>
                <a:cs typeface="Calibri" pitchFamily="34" charset="-120"/>
              </a:rPr>
              <a:t>Monolingual Arabic corpus (TSV format)</a:t>
            </a:r>
            <a:endParaRPr lang="en-US" sz="1000" dirty="0"/>
          </a:p>
        </p:txBody>
      </p:sp>
      <p:sp>
        <p:nvSpPr>
          <p:cNvPr id="14" name="Shape 12"/>
          <p:cNvSpPr/>
          <p:nvPr/>
        </p:nvSpPr>
        <p:spPr>
          <a:xfrm>
            <a:off x="274320" y="2331720"/>
            <a:ext cx="4114800" cy="114300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274320" y="2331720"/>
            <a:ext cx="54864" cy="1143000"/>
          </a:xfrm>
          <a:prstGeom prst="rect">
            <a:avLst/>
          </a:prstGeom>
          <a:solidFill>
            <a:srgbClr val="2EC4B6"/>
          </a:solidFill>
          <a:ln w="12700">
            <a:solidFill>
              <a:srgbClr val="2EC4B6"/>
            </a:solidFill>
            <a:prstDash val="solid"/>
          </a:ln>
        </p:spPr>
        <p:txBody>
          <a:bodyPr/>
          <a:lstStyle/>
          <a:p>
            <a:endParaRPr lang="en-US"/>
          </a:p>
        </p:txBody>
      </p:sp>
      <p:sp>
        <p:nvSpPr>
          <p:cNvPr id="16" name="Text 14"/>
          <p:cNvSpPr/>
          <p:nvPr/>
        </p:nvSpPr>
        <p:spPr>
          <a:xfrm>
            <a:off x="438912" y="2423160"/>
            <a:ext cx="388620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Kaggle Arabic</a:t>
            </a:r>
            <a:endParaRPr lang="en-US" sz="1300" dirty="0"/>
          </a:p>
        </p:txBody>
      </p:sp>
      <p:sp>
        <p:nvSpPr>
          <p:cNvPr id="17" name="Text 15"/>
          <p:cNvSpPr/>
          <p:nvPr/>
        </p:nvSpPr>
        <p:spPr>
          <a:xfrm>
            <a:off x="438912" y="2743200"/>
            <a:ext cx="3886200" cy="256032"/>
          </a:xfrm>
          <a:prstGeom prst="rect">
            <a:avLst/>
          </a:prstGeom>
          <a:noFill/>
          <a:ln/>
        </p:spPr>
        <p:txBody>
          <a:bodyPr wrap="square" lIns="0" tIns="0" rIns="0" bIns="0" rtlCol="0" anchor="ctr"/>
          <a:lstStyle/>
          <a:p>
            <a:pPr marL="0" indent="0">
              <a:buNone/>
            </a:pPr>
            <a:r>
              <a:rPr lang="en-US" sz="1100" b="1" dirty="0">
                <a:solidFill>
                  <a:srgbClr val="1B7A8A"/>
                </a:solidFill>
                <a:latin typeface="Calibri" pitchFamily="34" charset="0"/>
                <a:ea typeface="Calibri" pitchFamily="34" charset="-122"/>
                <a:cs typeface="Calibri" pitchFamily="34" charset="-120"/>
              </a:rPr>
              <a:t>varies examples</a:t>
            </a:r>
            <a:endParaRPr lang="en-US" sz="1100" dirty="0"/>
          </a:p>
        </p:txBody>
      </p:sp>
      <p:sp>
        <p:nvSpPr>
          <p:cNvPr id="18" name="Text 16"/>
          <p:cNvSpPr/>
          <p:nvPr/>
        </p:nvSpPr>
        <p:spPr>
          <a:xfrm>
            <a:off x="438912" y="2999232"/>
            <a:ext cx="3886200" cy="384048"/>
          </a:xfrm>
          <a:prstGeom prst="rect">
            <a:avLst/>
          </a:prstGeom>
          <a:noFill/>
          <a:ln/>
        </p:spPr>
        <p:txBody>
          <a:bodyPr wrap="square" lIns="0" tIns="0" rIns="0" bIns="0" rtlCol="0" anchor="ctr"/>
          <a:lstStyle/>
          <a:p>
            <a:pPr marL="0" indent="0">
              <a:buNone/>
            </a:pPr>
            <a:r>
              <a:rPr lang="en-US" sz="1000" dirty="0">
                <a:solidFill>
                  <a:srgbClr val="8BAAB8"/>
                </a:solidFill>
                <a:latin typeface="Calibri" pitchFamily="34" charset="0"/>
                <a:ea typeface="Calibri" pitchFamily="34" charset="-122"/>
                <a:cs typeface="Calibri" pitchFamily="34" charset="-120"/>
              </a:rPr>
              <a:t>Preprocessed Arabic news with summaries (CSV)</a:t>
            </a:r>
            <a:endParaRPr lang="en-US" sz="1000" dirty="0"/>
          </a:p>
        </p:txBody>
      </p:sp>
      <p:sp>
        <p:nvSpPr>
          <p:cNvPr id="19" name="Shape 17"/>
          <p:cNvSpPr/>
          <p:nvPr/>
        </p:nvSpPr>
        <p:spPr>
          <a:xfrm>
            <a:off x="4709160" y="2331720"/>
            <a:ext cx="4114800" cy="114300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20" name="Shape 18"/>
          <p:cNvSpPr/>
          <p:nvPr/>
        </p:nvSpPr>
        <p:spPr>
          <a:xfrm>
            <a:off x="4709160" y="2331720"/>
            <a:ext cx="54864" cy="1143000"/>
          </a:xfrm>
          <a:prstGeom prst="rect">
            <a:avLst/>
          </a:prstGeom>
          <a:solidFill>
            <a:srgbClr val="2EC4B6"/>
          </a:solidFill>
          <a:ln w="12700">
            <a:solidFill>
              <a:srgbClr val="2EC4B6"/>
            </a:solidFill>
            <a:prstDash val="solid"/>
          </a:ln>
        </p:spPr>
        <p:txBody>
          <a:bodyPr/>
          <a:lstStyle/>
          <a:p>
            <a:endParaRPr lang="en-US"/>
          </a:p>
        </p:txBody>
      </p:sp>
      <p:sp>
        <p:nvSpPr>
          <p:cNvPr id="21" name="Text 19"/>
          <p:cNvSpPr/>
          <p:nvPr/>
        </p:nvSpPr>
        <p:spPr>
          <a:xfrm>
            <a:off x="4873752" y="2423160"/>
            <a:ext cx="388620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Summset</a:t>
            </a:r>
            <a:endParaRPr lang="en-US" sz="1300" dirty="0"/>
          </a:p>
        </p:txBody>
      </p:sp>
      <p:sp>
        <p:nvSpPr>
          <p:cNvPr id="22" name="Text 20"/>
          <p:cNvSpPr/>
          <p:nvPr/>
        </p:nvSpPr>
        <p:spPr>
          <a:xfrm>
            <a:off x="4873752" y="2743200"/>
            <a:ext cx="3886200" cy="256032"/>
          </a:xfrm>
          <a:prstGeom prst="rect">
            <a:avLst/>
          </a:prstGeom>
          <a:noFill/>
          <a:ln/>
        </p:spPr>
        <p:txBody>
          <a:bodyPr wrap="square" lIns="0" tIns="0" rIns="0" bIns="0" rtlCol="0" anchor="ctr"/>
          <a:lstStyle/>
          <a:p>
            <a:pPr marL="0" indent="0">
              <a:buNone/>
            </a:pPr>
            <a:r>
              <a:rPr lang="en-US" sz="1100" b="1" dirty="0">
                <a:solidFill>
                  <a:srgbClr val="1B7A8A"/>
                </a:solidFill>
                <a:latin typeface="Calibri" pitchFamily="34" charset="0"/>
                <a:ea typeface="Calibri" pitchFamily="34" charset="-122"/>
                <a:cs typeface="Calibri" pitchFamily="34" charset="-120"/>
              </a:rPr>
              <a:t>varies examples</a:t>
            </a:r>
            <a:endParaRPr lang="en-US" sz="1100" dirty="0"/>
          </a:p>
        </p:txBody>
      </p:sp>
      <p:sp>
        <p:nvSpPr>
          <p:cNvPr id="23" name="Text 21"/>
          <p:cNvSpPr/>
          <p:nvPr/>
        </p:nvSpPr>
        <p:spPr>
          <a:xfrm>
            <a:off x="4873752" y="2999232"/>
            <a:ext cx="3886200" cy="384048"/>
          </a:xfrm>
          <a:prstGeom prst="rect">
            <a:avLst/>
          </a:prstGeom>
          <a:noFill/>
          <a:ln/>
        </p:spPr>
        <p:txBody>
          <a:bodyPr wrap="square" lIns="0" tIns="0" rIns="0" bIns="0" rtlCol="0" anchor="ctr"/>
          <a:lstStyle/>
          <a:p>
            <a:pPr marL="0" indent="0">
              <a:buNone/>
            </a:pPr>
            <a:r>
              <a:rPr lang="en-US" sz="1000" dirty="0">
                <a:solidFill>
                  <a:srgbClr val="8BAAB8"/>
                </a:solidFill>
                <a:latin typeface="Calibri" pitchFamily="34" charset="0"/>
                <a:ea typeface="Calibri" pitchFamily="34" charset="-122"/>
                <a:cs typeface="Calibri" pitchFamily="34" charset="-120"/>
              </a:rPr>
              <a:t>CSV dataset with text/summarizer columns</a:t>
            </a:r>
            <a:endParaRPr lang="en-US" sz="1000" dirty="0"/>
          </a:p>
        </p:txBody>
      </p:sp>
      <p:sp>
        <p:nvSpPr>
          <p:cNvPr id="24" name="Shape 22"/>
          <p:cNvSpPr/>
          <p:nvPr/>
        </p:nvSpPr>
        <p:spPr>
          <a:xfrm>
            <a:off x="274320" y="3657600"/>
            <a:ext cx="4114800" cy="114300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25" name="Shape 23"/>
          <p:cNvSpPr/>
          <p:nvPr/>
        </p:nvSpPr>
        <p:spPr>
          <a:xfrm>
            <a:off x="274320" y="3657600"/>
            <a:ext cx="54864" cy="1143000"/>
          </a:xfrm>
          <a:prstGeom prst="rect">
            <a:avLst/>
          </a:prstGeom>
          <a:solidFill>
            <a:srgbClr val="2EC4B6"/>
          </a:solidFill>
          <a:ln w="12700">
            <a:solidFill>
              <a:srgbClr val="2EC4B6"/>
            </a:solidFill>
            <a:prstDash val="solid"/>
          </a:ln>
        </p:spPr>
        <p:txBody>
          <a:bodyPr/>
          <a:lstStyle/>
          <a:p>
            <a:endParaRPr lang="en-US"/>
          </a:p>
        </p:txBody>
      </p:sp>
      <p:sp>
        <p:nvSpPr>
          <p:cNvPr id="26" name="Text 24"/>
          <p:cNvSpPr/>
          <p:nvPr/>
        </p:nvSpPr>
        <p:spPr>
          <a:xfrm>
            <a:off x="438912" y="3749040"/>
            <a:ext cx="3886200" cy="34747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Egyptian Arabic</a:t>
            </a:r>
            <a:endParaRPr lang="en-US" sz="1300" dirty="0"/>
          </a:p>
        </p:txBody>
      </p:sp>
      <p:sp>
        <p:nvSpPr>
          <p:cNvPr id="27" name="Text 25"/>
          <p:cNvSpPr/>
          <p:nvPr/>
        </p:nvSpPr>
        <p:spPr>
          <a:xfrm>
            <a:off x="438912" y="4069080"/>
            <a:ext cx="3886200" cy="256032"/>
          </a:xfrm>
          <a:prstGeom prst="rect">
            <a:avLst/>
          </a:prstGeom>
          <a:noFill/>
          <a:ln/>
        </p:spPr>
        <p:txBody>
          <a:bodyPr wrap="square" lIns="0" tIns="0" rIns="0" bIns="0" rtlCol="0" anchor="ctr"/>
          <a:lstStyle/>
          <a:p>
            <a:pPr marL="0" indent="0">
              <a:buNone/>
            </a:pPr>
            <a:r>
              <a:rPr lang="en-US" sz="1100" b="1" dirty="0">
                <a:solidFill>
                  <a:srgbClr val="1B7A8A"/>
                </a:solidFill>
                <a:latin typeface="Calibri" pitchFamily="34" charset="0"/>
                <a:ea typeface="Calibri" pitchFamily="34" charset="-122"/>
                <a:cs typeface="Calibri" pitchFamily="34" charset="-120"/>
              </a:rPr>
              <a:t>varies examples</a:t>
            </a:r>
            <a:endParaRPr lang="en-US" sz="1100" dirty="0"/>
          </a:p>
        </p:txBody>
      </p:sp>
      <p:sp>
        <p:nvSpPr>
          <p:cNvPr id="28" name="Text 26"/>
          <p:cNvSpPr/>
          <p:nvPr/>
        </p:nvSpPr>
        <p:spPr>
          <a:xfrm>
            <a:off x="438912" y="4325112"/>
            <a:ext cx="3886200" cy="384048"/>
          </a:xfrm>
          <a:prstGeom prst="rect">
            <a:avLst/>
          </a:prstGeom>
          <a:noFill/>
          <a:ln/>
        </p:spPr>
        <p:txBody>
          <a:bodyPr wrap="square" lIns="0" tIns="0" rIns="0" bIns="0" rtlCol="0" anchor="ctr"/>
          <a:lstStyle/>
          <a:p>
            <a:pPr marL="0" indent="0">
              <a:buNone/>
            </a:pPr>
            <a:r>
              <a:rPr lang="en-US" sz="1000" dirty="0">
                <a:solidFill>
                  <a:srgbClr val="8BAAB8"/>
                </a:solidFill>
                <a:latin typeface="Calibri" pitchFamily="34" charset="0"/>
                <a:ea typeface="Calibri" pitchFamily="34" charset="-122"/>
                <a:cs typeface="Calibri" pitchFamily="34" charset="-120"/>
              </a:rPr>
              <a:t>Dialectal Egyptian Arabic (Parquet, Hugging Face)</a:t>
            </a:r>
            <a:endParaRPr lang="en-US" sz="1000" dirty="0"/>
          </a:p>
        </p:txBody>
      </p:sp>
      <p:sp>
        <p:nvSpPr>
          <p:cNvPr id="29" name="Shape 27"/>
          <p:cNvSpPr/>
          <p:nvPr/>
        </p:nvSpPr>
        <p:spPr>
          <a:xfrm>
            <a:off x="274320" y="4617720"/>
            <a:ext cx="8549640" cy="384048"/>
          </a:xfrm>
          <a:prstGeom prst="rect">
            <a:avLst/>
          </a:prstGeom>
          <a:solidFill>
            <a:srgbClr val="1B7A8A"/>
          </a:solidFill>
          <a:ln w="12700">
            <a:solidFill>
              <a:srgbClr val="1B7A8A"/>
            </a:solidFill>
            <a:prstDash val="solid"/>
          </a:ln>
        </p:spPr>
        <p:txBody>
          <a:bodyPr/>
          <a:lstStyle/>
          <a:p>
            <a:endParaRPr lang="en-US"/>
          </a:p>
        </p:txBody>
      </p:sp>
      <p:sp>
        <p:nvSpPr>
          <p:cNvPr id="30" name="Text 28"/>
          <p:cNvSpPr/>
          <p:nvPr/>
        </p:nvSpPr>
        <p:spPr>
          <a:xfrm>
            <a:off x="457200" y="4636008"/>
            <a:ext cx="8229600" cy="34747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All datasets merged, deduplicated, and unified into a single article–summary DataFrame before training.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457200" y="109728"/>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Text Preprocessing Pipeline</a:t>
            </a:r>
            <a:endParaRPr lang="en-US" sz="2400" dirty="0"/>
          </a:p>
        </p:txBody>
      </p:sp>
      <p:sp>
        <p:nvSpPr>
          <p:cNvPr id="4" name="Shape 2"/>
          <p:cNvSpPr/>
          <p:nvPr/>
        </p:nvSpPr>
        <p:spPr>
          <a:xfrm>
            <a:off x="274320" y="960120"/>
            <a:ext cx="8549640" cy="685800"/>
          </a:xfrm>
          <a:prstGeom prst="rect">
            <a:avLst/>
          </a:prstGeom>
          <a:solidFill>
            <a:srgbClr val="F0F4F8"/>
          </a:solidFill>
          <a:ln w="12700">
            <a:solidFill>
              <a:srgbClr val="D6E8EE"/>
            </a:solidFill>
            <a:prstDash val="solid"/>
          </a:ln>
        </p:spPr>
        <p:txBody>
          <a:bodyPr/>
          <a:lstStyle/>
          <a:p>
            <a:endParaRPr lang="en-US"/>
          </a:p>
        </p:txBody>
      </p:sp>
      <p:sp>
        <p:nvSpPr>
          <p:cNvPr id="5" name="Shape 3"/>
          <p:cNvSpPr/>
          <p:nvPr/>
        </p:nvSpPr>
        <p:spPr>
          <a:xfrm>
            <a:off x="365760" y="1088136"/>
            <a:ext cx="420624" cy="420624"/>
          </a:xfrm>
          <a:prstGeom prst="ellipse">
            <a:avLst/>
          </a:prstGeom>
          <a:solidFill>
            <a:srgbClr val="1B7A8A"/>
          </a:solidFill>
          <a:ln w="12700">
            <a:solidFill>
              <a:srgbClr val="1B7A8A"/>
            </a:solidFill>
            <a:prstDash val="solid"/>
          </a:ln>
        </p:spPr>
        <p:txBody>
          <a:bodyPr/>
          <a:lstStyle/>
          <a:p>
            <a:endParaRPr lang="en-US"/>
          </a:p>
        </p:txBody>
      </p:sp>
      <p:sp>
        <p:nvSpPr>
          <p:cNvPr id="6" name="Text 4"/>
          <p:cNvSpPr/>
          <p:nvPr/>
        </p:nvSpPr>
        <p:spPr>
          <a:xfrm>
            <a:off x="365760" y="108813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960120" y="1014984"/>
            <a:ext cx="201168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Load &amp; Unify</a:t>
            </a:r>
            <a:endParaRPr lang="en-US" sz="1200" dirty="0"/>
          </a:p>
        </p:txBody>
      </p:sp>
      <p:sp>
        <p:nvSpPr>
          <p:cNvPr id="8" name="Text 6"/>
          <p:cNvSpPr/>
          <p:nvPr/>
        </p:nvSpPr>
        <p:spPr>
          <a:xfrm>
            <a:off x="3063240" y="1014984"/>
            <a:ext cx="5669280" cy="54864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5 datasets → single DataFrame with article/summary columns. Deduplication removes identical pairs.</a:t>
            </a:r>
            <a:endParaRPr lang="en-US" sz="1100" dirty="0"/>
          </a:p>
        </p:txBody>
      </p:sp>
      <p:sp>
        <p:nvSpPr>
          <p:cNvPr id="9" name="Shape 7"/>
          <p:cNvSpPr/>
          <p:nvPr/>
        </p:nvSpPr>
        <p:spPr>
          <a:xfrm>
            <a:off x="274320" y="1755648"/>
            <a:ext cx="8549640" cy="685800"/>
          </a:xfrm>
          <a:prstGeom prst="rect">
            <a:avLst/>
          </a:prstGeom>
          <a:solidFill>
            <a:srgbClr val="F0F4F8"/>
          </a:solidFill>
          <a:ln w="12700">
            <a:solidFill>
              <a:srgbClr val="D6E8EE"/>
            </a:solidFill>
            <a:prstDash val="solid"/>
          </a:ln>
        </p:spPr>
        <p:txBody>
          <a:bodyPr/>
          <a:lstStyle/>
          <a:p>
            <a:endParaRPr lang="en-US"/>
          </a:p>
        </p:txBody>
      </p:sp>
      <p:sp>
        <p:nvSpPr>
          <p:cNvPr id="10" name="Shape 8"/>
          <p:cNvSpPr/>
          <p:nvPr/>
        </p:nvSpPr>
        <p:spPr>
          <a:xfrm>
            <a:off x="365760" y="1883664"/>
            <a:ext cx="420624" cy="420624"/>
          </a:xfrm>
          <a:prstGeom prst="ellipse">
            <a:avLst/>
          </a:prstGeom>
          <a:solidFill>
            <a:srgbClr val="1B7A8A"/>
          </a:solidFill>
          <a:ln w="12700">
            <a:solidFill>
              <a:srgbClr val="1B7A8A"/>
            </a:solidFill>
            <a:prstDash val="solid"/>
          </a:ln>
        </p:spPr>
        <p:txBody>
          <a:bodyPr/>
          <a:lstStyle/>
          <a:p>
            <a:endParaRPr lang="en-US"/>
          </a:p>
        </p:txBody>
      </p:sp>
      <p:sp>
        <p:nvSpPr>
          <p:cNvPr id="11" name="Text 9"/>
          <p:cNvSpPr/>
          <p:nvPr/>
        </p:nvSpPr>
        <p:spPr>
          <a:xfrm>
            <a:off x="365760" y="188366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960120" y="1810512"/>
            <a:ext cx="201168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Arabic Normalisation</a:t>
            </a:r>
            <a:endParaRPr lang="en-US" sz="1200" dirty="0"/>
          </a:p>
        </p:txBody>
      </p:sp>
      <p:sp>
        <p:nvSpPr>
          <p:cNvPr id="13" name="Text 11"/>
          <p:cNvSpPr/>
          <p:nvPr/>
        </p:nvSpPr>
        <p:spPr>
          <a:xfrm>
            <a:off x="3063240" y="1810512"/>
            <a:ext cx="5669280" cy="54864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Unify hamza variants (إأآا→ا), taa marbuta (ة→ه), alef maqsura (ى→ي). Strips diacritics (tashkeel) and invisible Unicode control chars.</a:t>
            </a:r>
            <a:endParaRPr lang="en-US" sz="1100" dirty="0"/>
          </a:p>
        </p:txBody>
      </p:sp>
      <p:sp>
        <p:nvSpPr>
          <p:cNvPr id="14" name="Shape 12"/>
          <p:cNvSpPr/>
          <p:nvPr/>
        </p:nvSpPr>
        <p:spPr>
          <a:xfrm>
            <a:off x="274320" y="2551176"/>
            <a:ext cx="8549640" cy="685800"/>
          </a:xfrm>
          <a:prstGeom prst="rect">
            <a:avLst/>
          </a:prstGeom>
          <a:solidFill>
            <a:srgbClr val="F0F4F8"/>
          </a:solidFill>
          <a:ln w="12700">
            <a:solidFill>
              <a:srgbClr val="D6E8EE"/>
            </a:solidFill>
            <a:prstDash val="solid"/>
          </a:ln>
        </p:spPr>
        <p:txBody>
          <a:bodyPr/>
          <a:lstStyle/>
          <a:p>
            <a:endParaRPr lang="en-US"/>
          </a:p>
        </p:txBody>
      </p:sp>
      <p:sp>
        <p:nvSpPr>
          <p:cNvPr id="15" name="Shape 13"/>
          <p:cNvSpPr/>
          <p:nvPr/>
        </p:nvSpPr>
        <p:spPr>
          <a:xfrm>
            <a:off x="365760" y="2679192"/>
            <a:ext cx="420624" cy="420624"/>
          </a:xfrm>
          <a:prstGeom prst="ellipse">
            <a:avLst/>
          </a:prstGeom>
          <a:solidFill>
            <a:srgbClr val="1B7A8A"/>
          </a:solidFill>
          <a:ln w="12700">
            <a:solidFill>
              <a:srgbClr val="1B7A8A"/>
            </a:solidFill>
            <a:prstDash val="solid"/>
          </a:ln>
        </p:spPr>
        <p:txBody>
          <a:bodyPr/>
          <a:lstStyle/>
          <a:p>
            <a:endParaRPr lang="en-US"/>
          </a:p>
        </p:txBody>
      </p:sp>
      <p:sp>
        <p:nvSpPr>
          <p:cNvPr id="16" name="Text 14"/>
          <p:cNvSpPr/>
          <p:nvPr/>
        </p:nvSpPr>
        <p:spPr>
          <a:xfrm>
            <a:off x="365760" y="267919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960120" y="2606040"/>
            <a:ext cx="201168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Noise Removal</a:t>
            </a:r>
            <a:endParaRPr lang="en-US" sz="1200" dirty="0"/>
          </a:p>
        </p:txBody>
      </p:sp>
      <p:sp>
        <p:nvSpPr>
          <p:cNvPr id="18" name="Text 16"/>
          <p:cNvSpPr/>
          <p:nvPr/>
        </p:nvSpPr>
        <p:spPr>
          <a:xfrm>
            <a:off x="3063240" y="2606040"/>
            <a:ext cx="5669280" cy="54864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URLs, HTML tags, punctuation removed via regex. Rows shorter than 10 characters are dropped.</a:t>
            </a:r>
            <a:endParaRPr lang="en-US" sz="1100" dirty="0"/>
          </a:p>
        </p:txBody>
      </p:sp>
      <p:sp>
        <p:nvSpPr>
          <p:cNvPr id="19" name="Shape 17"/>
          <p:cNvSpPr/>
          <p:nvPr/>
        </p:nvSpPr>
        <p:spPr>
          <a:xfrm>
            <a:off x="274320" y="3346704"/>
            <a:ext cx="8549640" cy="685800"/>
          </a:xfrm>
          <a:prstGeom prst="rect">
            <a:avLst/>
          </a:prstGeom>
          <a:solidFill>
            <a:srgbClr val="F0F4F8"/>
          </a:solidFill>
          <a:ln w="12700">
            <a:solidFill>
              <a:srgbClr val="D6E8EE"/>
            </a:solidFill>
            <a:prstDash val="solid"/>
          </a:ln>
        </p:spPr>
        <p:txBody>
          <a:bodyPr/>
          <a:lstStyle/>
          <a:p>
            <a:endParaRPr lang="en-US"/>
          </a:p>
        </p:txBody>
      </p:sp>
      <p:sp>
        <p:nvSpPr>
          <p:cNvPr id="20" name="Shape 18"/>
          <p:cNvSpPr/>
          <p:nvPr/>
        </p:nvSpPr>
        <p:spPr>
          <a:xfrm>
            <a:off x="365760" y="3474720"/>
            <a:ext cx="420624" cy="420624"/>
          </a:xfrm>
          <a:prstGeom prst="ellipse">
            <a:avLst/>
          </a:prstGeom>
          <a:solidFill>
            <a:srgbClr val="1B7A8A"/>
          </a:solidFill>
          <a:ln w="12700">
            <a:solidFill>
              <a:srgbClr val="1B7A8A"/>
            </a:solidFill>
            <a:prstDash val="solid"/>
          </a:ln>
        </p:spPr>
        <p:txBody>
          <a:bodyPr/>
          <a:lstStyle/>
          <a:p>
            <a:endParaRPr lang="en-US"/>
          </a:p>
        </p:txBody>
      </p:sp>
      <p:sp>
        <p:nvSpPr>
          <p:cNvPr id="21" name="Text 19"/>
          <p:cNvSpPr/>
          <p:nvPr/>
        </p:nvSpPr>
        <p:spPr>
          <a:xfrm>
            <a:off x="365760" y="34747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960120" y="3401568"/>
            <a:ext cx="201168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AraBERT Tokenization</a:t>
            </a:r>
            <a:endParaRPr lang="en-US" sz="1200" dirty="0"/>
          </a:p>
        </p:txBody>
      </p:sp>
      <p:sp>
        <p:nvSpPr>
          <p:cNvPr id="23" name="Text 21"/>
          <p:cNvSpPr/>
          <p:nvPr/>
        </p:nvSpPr>
        <p:spPr>
          <a:xfrm>
            <a:off x="3063240" y="3401568"/>
            <a:ext cx="5669280" cy="54864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aubmindlab/bert-base-arabertv2 tokenizer. Encoder input padded/truncated to 200 tokens; decoder to 60 tokens.</a:t>
            </a:r>
            <a:endParaRPr lang="en-US" sz="1100" dirty="0"/>
          </a:p>
        </p:txBody>
      </p:sp>
      <p:sp>
        <p:nvSpPr>
          <p:cNvPr id="24" name="Shape 22"/>
          <p:cNvSpPr/>
          <p:nvPr/>
        </p:nvSpPr>
        <p:spPr>
          <a:xfrm>
            <a:off x="274320" y="4142232"/>
            <a:ext cx="8549640" cy="685800"/>
          </a:xfrm>
          <a:prstGeom prst="rect">
            <a:avLst/>
          </a:prstGeom>
          <a:solidFill>
            <a:srgbClr val="F0F4F8"/>
          </a:solidFill>
          <a:ln w="12700">
            <a:solidFill>
              <a:srgbClr val="D6E8EE"/>
            </a:solidFill>
            <a:prstDash val="solid"/>
          </a:ln>
        </p:spPr>
        <p:txBody>
          <a:bodyPr/>
          <a:lstStyle/>
          <a:p>
            <a:endParaRPr lang="en-US"/>
          </a:p>
        </p:txBody>
      </p:sp>
      <p:sp>
        <p:nvSpPr>
          <p:cNvPr id="25" name="Shape 23"/>
          <p:cNvSpPr/>
          <p:nvPr/>
        </p:nvSpPr>
        <p:spPr>
          <a:xfrm>
            <a:off x="365760" y="4270248"/>
            <a:ext cx="420624" cy="420624"/>
          </a:xfrm>
          <a:prstGeom prst="ellipse">
            <a:avLst/>
          </a:prstGeom>
          <a:solidFill>
            <a:srgbClr val="1B7A8A"/>
          </a:solidFill>
          <a:ln w="12700">
            <a:solidFill>
              <a:srgbClr val="1B7A8A"/>
            </a:solidFill>
            <a:prstDash val="solid"/>
          </a:ln>
        </p:spPr>
        <p:txBody>
          <a:bodyPr/>
          <a:lstStyle/>
          <a:p>
            <a:endParaRPr lang="en-US"/>
          </a:p>
        </p:txBody>
      </p:sp>
      <p:sp>
        <p:nvSpPr>
          <p:cNvPr id="26" name="Text 24"/>
          <p:cNvSpPr/>
          <p:nvPr/>
        </p:nvSpPr>
        <p:spPr>
          <a:xfrm>
            <a:off x="365760" y="42702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960120" y="4197096"/>
            <a:ext cx="201168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Teacher Forcing Split</a:t>
            </a:r>
            <a:endParaRPr lang="en-US" sz="1200" dirty="0"/>
          </a:p>
        </p:txBody>
      </p:sp>
      <p:sp>
        <p:nvSpPr>
          <p:cNvPr id="28" name="Text 26"/>
          <p:cNvSpPr/>
          <p:nvPr/>
        </p:nvSpPr>
        <p:spPr>
          <a:xfrm>
            <a:off x="3063240" y="4197096"/>
            <a:ext cx="5669280" cy="54864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Decoder input = summary tokens[:-1] (shifted right). Decoder target = summary tokens[1:] (shifted left).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7A8A"/>
          </a:solidFill>
          <a:ln w="12700">
            <a:solidFill>
              <a:srgbClr val="1B7A8A"/>
            </a:solidFill>
            <a:prstDash val="solid"/>
          </a:ln>
        </p:spPr>
        <p:txBody>
          <a:bodyPr/>
          <a:lstStyle/>
          <a:p>
            <a:endParaRPr lang="en-US"/>
          </a:p>
        </p:txBody>
      </p:sp>
      <p:sp>
        <p:nvSpPr>
          <p:cNvPr id="3" name="Text 1"/>
          <p:cNvSpPr/>
          <p:nvPr/>
        </p:nvSpPr>
        <p:spPr>
          <a:xfrm>
            <a:off x="365760" y="91440"/>
            <a:ext cx="8229600" cy="566928"/>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Code Spotlight — Arabic Text Cleaning</a:t>
            </a:r>
            <a:endParaRPr lang="en-US" sz="2000" dirty="0"/>
          </a:p>
        </p:txBody>
      </p:sp>
      <p:sp>
        <p:nvSpPr>
          <p:cNvPr id="4" name="Shape 2"/>
          <p:cNvSpPr/>
          <p:nvPr/>
        </p:nvSpPr>
        <p:spPr>
          <a:xfrm>
            <a:off x="274320" y="896112"/>
            <a:ext cx="8595360" cy="4069080"/>
          </a:xfrm>
          <a:prstGeom prst="rect">
            <a:avLst/>
          </a:prstGeom>
          <a:solidFill>
            <a:srgbClr val="1E2D3D"/>
          </a:solidFill>
          <a:ln w="12700">
            <a:solidFill>
              <a:srgbClr val="2A3F55"/>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502920" y="1005840"/>
            <a:ext cx="146304" cy="146304"/>
          </a:xfrm>
          <a:prstGeom prst="ellipse">
            <a:avLst/>
          </a:prstGeom>
          <a:solidFill>
            <a:srgbClr val="E06C75"/>
          </a:solidFill>
          <a:ln w="12700">
            <a:solidFill>
              <a:srgbClr val="E06C75"/>
            </a:solidFill>
            <a:prstDash val="solid"/>
          </a:ln>
        </p:spPr>
        <p:txBody>
          <a:bodyPr/>
          <a:lstStyle/>
          <a:p>
            <a:endParaRPr lang="en-US"/>
          </a:p>
        </p:txBody>
      </p:sp>
      <p:sp>
        <p:nvSpPr>
          <p:cNvPr id="6" name="Shape 4"/>
          <p:cNvSpPr/>
          <p:nvPr/>
        </p:nvSpPr>
        <p:spPr>
          <a:xfrm>
            <a:off x="758952" y="1005840"/>
            <a:ext cx="146304" cy="146304"/>
          </a:xfrm>
          <a:prstGeom prst="ellipse">
            <a:avLst/>
          </a:prstGeom>
          <a:solidFill>
            <a:srgbClr val="E5C07B"/>
          </a:solidFill>
          <a:ln w="12700">
            <a:solidFill>
              <a:srgbClr val="E5C07B"/>
            </a:solidFill>
            <a:prstDash val="solid"/>
          </a:ln>
        </p:spPr>
        <p:txBody>
          <a:bodyPr/>
          <a:lstStyle/>
          <a:p>
            <a:endParaRPr lang="en-US"/>
          </a:p>
        </p:txBody>
      </p:sp>
      <p:sp>
        <p:nvSpPr>
          <p:cNvPr id="7" name="Shape 5"/>
          <p:cNvSpPr/>
          <p:nvPr/>
        </p:nvSpPr>
        <p:spPr>
          <a:xfrm>
            <a:off x="1014984" y="1005840"/>
            <a:ext cx="146304" cy="146304"/>
          </a:xfrm>
          <a:prstGeom prst="ellipse">
            <a:avLst/>
          </a:prstGeom>
          <a:solidFill>
            <a:srgbClr val="98C379"/>
          </a:solidFill>
          <a:ln w="12700">
            <a:solidFill>
              <a:srgbClr val="98C379"/>
            </a:solidFill>
            <a:prstDash val="solid"/>
          </a:ln>
        </p:spPr>
        <p:txBody>
          <a:bodyPr/>
          <a:lstStyle/>
          <a:p>
            <a:endParaRPr lang="en-US"/>
          </a:p>
        </p:txBody>
      </p:sp>
      <p:sp>
        <p:nvSpPr>
          <p:cNvPr id="8" name="Text 6"/>
          <p:cNvSpPr/>
          <p:nvPr/>
        </p:nvSpPr>
        <p:spPr>
          <a:xfrm>
            <a:off x="1280160" y="960120"/>
            <a:ext cx="3657600" cy="237744"/>
          </a:xfrm>
          <a:prstGeom prst="rect">
            <a:avLst/>
          </a:prstGeom>
          <a:noFill/>
          <a:ln/>
        </p:spPr>
        <p:txBody>
          <a:bodyPr wrap="square" lIns="0" tIns="0" rIns="0" bIns="0" rtlCol="0" anchor="ctr"/>
          <a:lstStyle/>
          <a:p>
            <a:pPr marL="0" indent="0">
              <a:buNone/>
            </a:pPr>
            <a:r>
              <a:rPr lang="en-US" sz="900" dirty="0">
                <a:solidFill>
                  <a:srgbClr val="6B8FAE"/>
                </a:solidFill>
                <a:latin typeface="Consolas" pitchFamily="34" charset="0"/>
                <a:ea typeface="Consolas" pitchFamily="34" charset="-122"/>
                <a:cs typeface="Consolas" pitchFamily="34" charset="-120"/>
              </a:rPr>
              <a:t>clean_arabic_text.py</a:t>
            </a:r>
            <a:endParaRPr lang="en-US" sz="900" dirty="0"/>
          </a:p>
        </p:txBody>
      </p:sp>
      <p:sp>
        <p:nvSpPr>
          <p:cNvPr id="9" name="Text 7"/>
          <p:cNvSpPr/>
          <p:nvPr/>
        </p:nvSpPr>
        <p:spPr>
          <a:xfrm>
            <a:off x="411480" y="1298448"/>
            <a:ext cx="8321040" cy="3520440"/>
          </a:xfrm>
          <a:prstGeom prst="rect">
            <a:avLst/>
          </a:prstGeom>
          <a:noFill/>
          <a:ln/>
        </p:spPr>
        <p:txBody>
          <a:bodyPr wrap="square" rtlCol="0" anchor="ctr"/>
          <a:lstStyle/>
          <a:p>
            <a:pPr marL="0" indent="0">
              <a:buNone/>
            </a:pPr>
            <a:r>
              <a:rPr lang="en-US" sz="1150" dirty="0">
                <a:solidFill>
                  <a:srgbClr val="C678DD"/>
                </a:solidFill>
                <a:latin typeface="Consolas" pitchFamily="34" charset="0"/>
                <a:ea typeface="Consolas" pitchFamily="34" charset="-122"/>
                <a:cs typeface="Consolas" pitchFamily="34" charset="-120"/>
              </a:rPr>
              <a:t>def </a:t>
            </a:r>
            <a:r>
              <a:rPr lang="en-US" sz="1150" dirty="0">
                <a:solidFill>
                  <a:srgbClr val="61AFEF"/>
                </a:solidFill>
                <a:latin typeface="Consolas" pitchFamily="34" charset="0"/>
                <a:ea typeface="Consolas" pitchFamily="34" charset="-122"/>
                <a:cs typeface="Consolas" pitchFamily="34" charset="-120"/>
              </a:rPr>
              <a:t>clean_arabic_text</a:t>
            </a:r>
            <a:r>
              <a:rPr lang="en-US" sz="1150" dirty="0">
                <a:solidFill>
                  <a:srgbClr val="ABB2BF"/>
                </a:solidFill>
                <a:latin typeface="Consolas" pitchFamily="34" charset="0"/>
                <a:ea typeface="Consolas" pitchFamily="34" charset="-122"/>
                <a:cs typeface="Consolas" pitchFamily="34" charset="-120"/>
              </a:rPr>
              <a:t>(text):
    </a:t>
            </a:r>
            <a:r>
              <a:rPr lang="en-US" sz="1150" i="1" dirty="0">
                <a:solidFill>
                  <a:srgbClr val="5C6370"/>
                </a:solidFill>
                <a:latin typeface="Consolas" pitchFamily="34" charset="0"/>
                <a:ea typeface="Consolas" pitchFamily="34" charset="-122"/>
                <a:cs typeface="Consolas" pitchFamily="34" charset="-120"/>
              </a:rPr>
              <a:t># Remove URLs, HTML, invisible unicode
</a:t>
            </a:r>
            <a:r>
              <a:rPr lang="en-US" sz="1150" dirty="0">
                <a:solidFill>
                  <a:srgbClr val="ABB2BF"/>
                </a:solidFill>
                <a:latin typeface="Consolas" pitchFamily="34" charset="0"/>
                <a:ea typeface="Consolas" pitchFamily="34" charset="-122"/>
                <a:cs typeface="Consolas" pitchFamily="34" charset="-120"/>
              </a:rPr>
              <a:t>    text = re.sub(</a:t>
            </a:r>
            <a:r>
              <a:rPr lang="en-US" sz="1150" dirty="0">
                <a:solidFill>
                  <a:srgbClr val="98C379"/>
                </a:solidFill>
                <a:latin typeface="Consolas" pitchFamily="34" charset="0"/>
                <a:ea typeface="Consolas" pitchFamily="34" charset="-122"/>
                <a:cs typeface="Consolas" pitchFamily="34" charset="-120"/>
              </a:rPr>
              <a:t>r"http\S+"</a:t>
            </a:r>
            <a:r>
              <a:rPr lang="en-US" sz="1150" dirty="0">
                <a:solidFill>
                  <a:srgbClr val="ABB2BF"/>
                </a:solidFill>
                <a:latin typeface="Consolas" pitchFamily="34" charset="0"/>
                <a:ea typeface="Consolas" pitchFamily="34" charset="-122"/>
                <a:cs typeface="Consolas" pitchFamily="34" charset="-120"/>
              </a:rPr>
              <a:t>, </a:t>
            </a:r>
            <a:r>
              <a:rPr lang="en-US" sz="1150" dirty="0">
                <a:solidFill>
                  <a:srgbClr val="98C379"/>
                </a:solidFill>
                <a:latin typeface="Consolas" pitchFamily="34" charset="0"/>
                <a:ea typeface="Consolas" pitchFamily="34" charset="-122"/>
                <a:cs typeface="Consolas" pitchFamily="34" charset="-120"/>
              </a:rPr>
              <a:t>''</a:t>
            </a:r>
            <a:r>
              <a:rPr lang="en-US" sz="1150" dirty="0">
                <a:solidFill>
                  <a:srgbClr val="ABB2BF"/>
                </a:solidFill>
                <a:latin typeface="Consolas" pitchFamily="34" charset="0"/>
                <a:ea typeface="Consolas" pitchFamily="34" charset="-122"/>
                <a:cs typeface="Consolas" pitchFamily="34" charset="-120"/>
              </a:rPr>
              <a:t>, text)
    text = re.sub(</a:t>
            </a:r>
            <a:r>
              <a:rPr lang="en-US" sz="1150" dirty="0">
                <a:solidFill>
                  <a:srgbClr val="98C379"/>
                </a:solidFill>
                <a:latin typeface="Consolas" pitchFamily="34" charset="0"/>
                <a:ea typeface="Consolas" pitchFamily="34" charset="-122"/>
                <a:cs typeface="Consolas" pitchFamily="34" charset="-120"/>
              </a:rPr>
              <a:t>r'&lt;.*?&gt;'</a:t>
            </a:r>
            <a:r>
              <a:rPr lang="en-US" sz="1150" dirty="0">
                <a:solidFill>
                  <a:srgbClr val="ABB2BF"/>
                </a:solidFill>
                <a:latin typeface="Consolas" pitchFamily="34" charset="0"/>
                <a:ea typeface="Consolas" pitchFamily="34" charset="-122"/>
                <a:cs typeface="Consolas" pitchFamily="34" charset="-120"/>
              </a:rPr>
              <a:t>, </a:t>
            </a:r>
            <a:r>
              <a:rPr lang="en-US" sz="1150" dirty="0">
                <a:solidFill>
                  <a:srgbClr val="98C379"/>
                </a:solidFill>
                <a:latin typeface="Consolas" pitchFamily="34" charset="0"/>
                <a:ea typeface="Consolas" pitchFamily="34" charset="-122"/>
                <a:cs typeface="Consolas" pitchFamily="34" charset="-120"/>
              </a:rPr>
              <a:t>''</a:t>
            </a:r>
            <a:r>
              <a:rPr lang="en-US" sz="1150" dirty="0">
                <a:solidFill>
                  <a:srgbClr val="ABB2BF"/>
                </a:solidFill>
                <a:latin typeface="Consolas" pitchFamily="34" charset="0"/>
                <a:ea typeface="Consolas" pitchFamily="34" charset="-122"/>
                <a:cs typeface="Consolas" pitchFamily="34" charset="-120"/>
              </a:rPr>
              <a:t>, text)
    </a:t>
            </a:r>
            <a:r>
              <a:rPr lang="en-US" sz="1150" i="1" dirty="0">
                <a:solidFill>
                  <a:srgbClr val="5C6370"/>
                </a:solidFill>
                <a:latin typeface="Consolas" pitchFamily="34" charset="0"/>
                <a:ea typeface="Consolas" pitchFamily="34" charset="-122"/>
                <a:cs typeface="Consolas" pitchFamily="34" charset="-120"/>
              </a:rPr>
              <a:t># Unify Arabic letter variants (Hamza, Ta Marbuta, Alef Maqsura)
</a:t>
            </a:r>
            <a:r>
              <a:rPr lang="en-US" sz="1150" dirty="0">
                <a:solidFill>
                  <a:srgbClr val="ABB2BF"/>
                </a:solidFill>
                <a:latin typeface="Consolas" pitchFamily="34" charset="0"/>
                <a:ea typeface="Consolas" pitchFamily="34" charset="-122"/>
                <a:cs typeface="Consolas" pitchFamily="34" charset="-120"/>
              </a:rPr>
              <a:t>    text = re.sub(</a:t>
            </a:r>
            <a:r>
              <a:rPr lang="en-US" sz="1150" dirty="0">
                <a:solidFill>
                  <a:srgbClr val="98C379"/>
                </a:solidFill>
                <a:latin typeface="Consolas" pitchFamily="34" charset="0"/>
                <a:ea typeface="Consolas" pitchFamily="34" charset="-122"/>
                <a:cs typeface="Consolas" pitchFamily="34" charset="-120"/>
              </a:rPr>
              <a:t>r'[إأآا]'</a:t>
            </a:r>
            <a:r>
              <a:rPr lang="en-US" sz="1150" dirty="0">
                <a:solidFill>
                  <a:srgbClr val="ABB2BF"/>
                </a:solidFill>
                <a:latin typeface="Consolas" pitchFamily="34" charset="0"/>
                <a:ea typeface="Consolas" pitchFamily="34" charset="-122"/>
                <a:cs typeface="Consolas" pitchFamily="34" charset="-120"/>
              </a:rPr>
              <a:t>, </a:t>
            </a:r>
            <a:r>
              <a:rPr lang="en-US" sz="1150" dirty="0">
                <a:solidFill>
                  <a:srgbClr val="E5C07B"/>
                </a:solidFill>
                <a:latin typeface="Consolas" pitchFamily="34" charset="0"/>
                <a:ea typeface="Consolas" pitchFamily="34" charset="-122"/>
                <a:cs typeface="Consolas" pitchFamily="34" charset="-120"/>
              </a:rPr>
              <a:t>'ا'</a:t>
            </a:r>
            <a:r>
              <a:rPr lang="en-US" sz="1150" dirty="0">
                <a:solidFill>
                  <a:srgbClr val="ABB2BF"/>
                </a:solidFill>
                <a:latin typeface="Consolas" pitchFamily="34" charset="0"/>
                <a:ea typeface="Consolas" pitchFamily="34" charset="-122"/>
                <a:cs typeface="Consolas" pitchFamily="34" charset="-120"/>
              </a:rPr>
              <a:t>, text)
    text = re.sub(</a:t>
            </a:r>
            <a:r>
              <a:rPr lang="en-US" sz="1150" dirty="0">
                <a:solidFill>
                  <a:srgbClr val="98C379"/>
                </a:solidFill>
                <a:latin typeface="Consolas" pitchFamily="34" charset="0"/>
                <a:ea typeface="Consolas" pitchFamily="34" charset="-122"/>
                <a:cs typeface="Consolas" pitchFamily="34" charset="-120"/>
              </a:rPr>
              <a:t>r'ة'</a:t>
            </a:r>
            <a:r>
              <a:rPr lang="en-US" sz="1150" dirty="0">
                <a:solidFill>
                  <a:srgbClr val="ABB2BF"/>
                </a:solidFill>
                <a:latin typeface="Consolas" pitchFamily="34" charset="0"/>
                <a:ea typeface="Consolas" pitchFamily="34" charset="-122"/>
                <a:cs typeface="Consolas" pitchFamily="34" charset="-120"/>
              </a:rPr>
              <a:t>,  </a:t>
            </a:r>
            <a:r>
              <a:rPr lang="en-US" sz="1150" dirty="0">
                <a:solidFill>
                  <a:srgbClr val="E5C07B"/>
                </a:solidFill>
                <a:latin typeface="Consolas" pitchFamily="34" charset="0"/>
                <a:ea typeface="Consolas" pitchFamily="34" charset="-122"/>
                <a:cs typeface="Consolas" pitchFamily="34" charset="-120"/>
              </a:rPr>
              <a:t>'ه'</a:t>
            </a:r>
            <a:r>
              <a:rPr lang="en-US" sz="1150" dirty="0">
                <a:solidFill>
                  <a:srgbClr val="ABB2BF"/>
                </a:solidFill>
                <a:latin typeface="Consolas" pitchFamily="34" charset="0"/>
                <a:ea typeface="Consolas" pitchFamily="34" charset="-122"/>
                <a:cs typeface="Consolas" pitchFamily="34" charset="-120"/>
              </a:rPr>
              <a:t>, text)
    text = re.sub(</a:t>
            </a:r>
            <a:r>
              <a:rPr lang="en-US" sz="1150" dirty="0">
                <a:solidFill>
                  <a:srgbClr val="98C379"/>
                </a:solidFill>
                <a:latin typeface="Consolas" pitchFamily="34" charset="0"/>
                <a:ea typeface="Consolas" pitchFamily="34" charset="-122"/>
                <a:cs typeface="Consolas" pitchFamily="34" charset="-120"/>
              </a:rPr>
              <a:t>r'ى'</a:t>
            </a:r>
            <a:r>
              <a:rPr lang="en-US" sz="1150" dirty="0">
                <a:solidFill>
                  <a:srgbClr val="ABB2BF"/>
                </a:solidFill>
                <a:latin typeface="Consolas" pitchFamily="34" charset="0"/>
                <a:ea typeface="Consolas" pitchFamily="34" charset="-122"/>
                <a:cs typeface="Consolas" pitchFamily="34" charset="-120"/>
              </a:rPr>
              <a:t>,  </a:t>
            </a:r>
            <a:r>
              <a:rPr lang="en-US" sz="1150" dirty="0">
                <a:solidFill>
                  <a:srgbClr val="E5C07B"/>
                </a:solidFill>
                <a:latin typeface="Consolas" pitchFamily="34" charset="0"/>
                <a:ea typeface="Consolas" pitchFamily="34" charset="-122"/>
                <a:cs typeface="Consolas" pitchFamily="34" charset="-120"/>
              </a:rPr>
              <a:t>'ي'</a:t>
            </a:r>
            <a:r>
              <a:rPr lang="en-US" sz="1150" dirty="0">
                <a:solidFill>
                  <a:srgbClr val="ABB2BF"/>
                </a:solidFill>
                <a:latin typeface="Consolas" pitchFamily="34" charset="0"/>
                <a:ea typeface="Consolas" pitchFamily="34" charset="-122"/>
                <a:cs typeface="Consolas" pitchFamily="34" charset="-120"/>
              </a:rPr>
              <a:t>, text)
    </a:t>
            </a:r>
            <a:r>
              <a:rPr lang="en-US" sz="1150" i="1" dirty="0">
                <a:solidFill>
                  <a:srgbClr val="5C6370"/>
                </a:solidFill>
                <a:latin typeface="Consolas" pitchFamily="34" charset="0"/>
                <a:ea typeface="Consolas" pitchFamily="34" charset="-122"/>
                <a:cs typeface="Consolas" pitchFamily="34" charset="-120"/>
              </a:rPr>
              <a:t># Strip diacritics (tashkeel) — crucial for Arabic NLP
</a:t>
            </a:r>
            <a:r>
              <a:rPr lang="en-US" sz="1150" dirty="0">
                <a:solidFill>
                  <a:srgbClr val="ABB2BF"/>
                </a:solidFill>
                <a:latin typeface="Consolas" pitchFamily="34" charset="0"/>
                <a:ea typeface="Consolas" pitchFamily="34" charset="-122"/>
                <a:cs typeface="Consolas" pitchFamily="34" charset="-120"/>
              </a:rPr>
              <a:t>    text = re.sub(</a:t>
            </a:r>
            <a:r>
              <a:rPr lang="en-US" sz="1150" dirty="0">
                <a:solidFill>
                  <a:srgbClr val="98C379"/>
                </a:solidFill>
                <a:latin typeface="Consolas" pitchFamily="34" charset="0"/>
                <a:ea typeface="Consolas" pitchFamily="34" charset="-122"/>
                <a:cs typeface="Consolas" pitchFamily="34" charset="-120"/>
              </a:rPr>
              <a:t>r'[\u064B-\u065F]'</a:t>
            </a:r>
            <a:r>
              <a:rPr lang="en-US" sz="1150" dirty="0">
                <a:solidFill>
                  <a:srgbClr val="ABB2BF"/>
                </a:solidFill>
                <a:latin typeface="Consolas" pitchFamily="34" charset="0"/>
                <a:ea typeface="Consolas" pitchFamily="34" charset="-122"/>
                <a:cs typeface="Consolas" pitchFamily="34" charset="-120"/>
              </a:rPr>
              <a:t>, </a:t>
            </a:r>
            <a:r>
              <a:rPr lang="en-US" sz="1150" dirty="0">
                <a:solidFill>
                  <a:srgbClr val="98C379"/>
                </a:solidFill>
                <a:latin typeface="Consolas" pitchFamily="34" charset="0"/>
                <a:ea typeface="Consolas" pitchFamily="34" charset="-122"/>
                <a:cs typeface="Consolas" pitchFamily="34" charset="-120"/>
              </a:rPr>
              <a:t>''</a:t>
            </a:r>
            <a:r>
              <a:rPr lang="en-US" sz="1150" dirty="0">
                <a:solidFill>
                  <a:srgbClr val="ABB2BF"/>
                </a:solidFill>
                <a:latin typeface="Consolas" pitchFamily="34" charset="0"/>
                <a:ea typeface="Consolas" pitchFamily="34" charset="-122"/>
                <a:cs typeface="Consolas" pitchFamily="34" charset="-120"/>
              </a:rPr>
              <a:t>, text)
    </a:t>
            </a:r>
            <a:r>
              <a:rPr lang="en-US" sz="1150" dirty="0">
                <a:solidFill>
                  <a:srgbClr val="C678DD"/>
                </a:solidFill>
                <a:latin typeface="Consolas" pitchFamily="34" charset="0"/>
                <a:ea typeface="Consolas" pitchFamily="34" charset="-122"/>
                <a:cs typeface="Consolas" pitchFamily="34" charset="-120"/>
              </a:rPr>
              <a:t>return</a:t>
            </a:r>
            <a:r>
              <a:rPr lang="en-US" sz="1150" dirty="0">
                <a:solidFill>
                  <a:srgbClr val="ABB2BF"/>
                </a:solidFill>
                <a:latin typeface="Consolas" pitchFamily="34" charset="0"/>
                <a:ea typeface="Consolas" pitchFamily="34" charset="-122"/>
                <a:cs typeface="Consolas" pitchFamily="34" charset="-120"/>
              </a:rPr>
              <a:t> text.strip()</a:t>
            </a:r>
            <a:endParaRPr lang="en-US" sz="1150" dirty="0"/>
          </a:p>
        </p:txBody>
      </p:sp>
      <p:sp>
        <p:nvSpPr>
          <p:cNvPr id="10" name="Shape 8"/>
          <p:cNvSpPr/>
          <p:nvPr/>
        </p:nvSpPr>
        <p:spPr>
          <a:xfrm>
            <a:off x="5486400" y="4480560"/>
            <a:ext cx="3291840" cy="457200"/>
          </a:xfrm>
          <a:prstGeom prst="roundRect">
            <a:avLst>
              <a:gd name="adj" fmla="val 12000"/>
            </a:avLst>
          </a:prstGeom>
          <a:solidFill>
            <a:srgbClr val="1B7A8A">
              <a:alpha val="80000"/>
            </a:srgbClr>
          </a:solidFill>
          <a:ln w="12700">
            <a:solidFill>
              <a:srgbClr val="2EC4B6"/>
            </a:solidFill>
            <a:prstDash val="solid"/>
          </a:ln>
        </p:spPr>
        <p:txBody>
          <a:bodyPr/>
          <a:lstStyle/>
          <a:p>
            <a:endParaRPr lang="en-US"/>
          </a:p>
        </p:txBody>
      </p:sp>
      <p:sp>
        <p:nvSpPr>
          <p:cNvPr id="11" name="Text 9"/>
          <p:cNvSpPr/>
          <p:nvPr/>
        </p:nvSpPr>
        <p:spPr>
          <a:xfrm>
            <a:off x="5486400" y="4480560"/>
            <a:ext cx="3291840" cy="45720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  Applied to every row in the dataset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457200" y="109728"/>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Model Architecture — Seq2Seq + Attention</a:t>
            </a:r>
            <a:endParaRPr lang="en-US" sz="2400" dirty="0"/>
          </a:p>
        </p:txBody>
      </p:sp>
      <p:sp>
        <p:nvSpPr>
          <p:cNvPr id="4" name="Shape 2"/>
          <p:cNvSpPr/>
          <p:nvPr/>
        </p:nvSpPr>
        <p:spPr>
          <a:xfrm>
            <a:off x="274320" y="1097280"/>
            <a:ext cx="2560320" cy="2377440"/>
          </a:xfrm>
          <a:prstGeom prst="rect">
            <a:avLst/>
          </a:prstGeom>
          <a:solidFill>
            <a:srgbClr val="F0F4F8"/>
          </a:solidFill>
          <a:ln w="12700">
            <a:solidFill>
              <a:srgbClr val="1B7A8A"/>
            </a:solidFill>
            <a:prstDash val="solid"/>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274320" y="1097280"/>
            <a:ext cx="2560320" cy="347472"/>
          </a:xfrm>
          <a:prstGeom prst="rect">
            <a:avLst/>
          </a:prstGeom>
          <a:solidFill>
            <a:srgbClr val="1B7A8A"/>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ENCODER</a:t>
            </a:r>
            <a:endParaRPr lang="en-US" sz="1200" dirty="0"/>
          </a:p>
        </p:txBody>
      </p:sp>
      <p:sp>
        <p:nvSpPr>
          <p:cNvPr id="6" name="Text 4"/>
          <p:cNvSpPr/>
          <p:nvPr/>
        </p:nvSpPr>
        <p:spPr>
          <a:xfrm>
            <a:off x="365760" y="1856652"/>
            <a:ext cx="2377440" cy="1428094"/>
          </a:xfrm>
          <a:prstGeom prst="rect">
            <a:avLst/>
          </a:prstGeom>
          <a:noFill/>
          <a:ln/>
        </p:spPr>
        <p:txBody>
          <a:bodyPr wrap="square" lIns="91440" tIns="45720" rIns="91440" bIns="45720" rtlCol="0" anchor="ctr"/>
          <a:lstStyle/>
          <a:p>
            <a:pPr marL="0" indent="0">
              <a:spcAft>
                <a:spcPts val="300"/>
              </a:spcAft>
              <a:buNone/>
            </a:pPr>
            <a:r>
              <a:rPr lang="en-US" sz="1100" b="1" dirty="0">
                <a:solidFill>
                  <a:srgbClr val="0D1B2A"/>
                </a:solidFill>
                <a:latin typeface="Calibri"/>
                <a:ea typeface="Calibri"/>
                <a:cs typeface="Calibri"/>
              </a:rPr>
              <a:t>AraBERT Embedding
</a:t>
            </a:r>
            <a:endParaRPr lang="en-US" sz="1100" dirty="0">
              <a:latin typeface="Calibri"/>
              <a:ea typeface="Calibri"/>
              <a:cs typeface="Calibri"/>
            </a:endParaRPr>
          </a:p>
          <a:p>
            <a:pPr marL="0" indent="0">
              <a:spcAft>
                <a:spcPts val="300"/>
              </a:spcAft>
              <a:buNone/>
            </a:pPr>
            <a:r>
              <a:rPr lang="en-US" sz="1100">
                <a:solidFill>
                  <a:srgbClr val="0D1B2A"/>
                </a:solidFill>
                <a:latin typeface="Calibri"/>
                <a:ea typeface="Calibri"/>
                <a:cs typeface="Calibri"/>
              </a:rPr>
              <a:t>(frozen weights)</a:t>
            </a:r>
          </a:p>
          <a:p>
            <a:pPr marL="0" indent="0">
              <a:spcAft>
                <a:spcPts val="300"/>
              </a:spcAft>
              <a:buNone/>
            </a:pPr>
            <a:r>
              <a:rPr lang="en-US" sz="1100" b="1" dirty="0">
                <a:solidFill>
                  <a:srgbClr val="0D1B2A"/>
                </a:solidFill>
                <a:latin typeface="Calibri"/>
                <a:ea typeface="Calibri"/>
                <a:cs typeface="Calibri"/>
              </a:rPr>
              <a:t>Bidirectional LSTM
</a:t>
            </a:r>
            <a:endParaRPr lang="en-US" sz="1100" dirty="0">
              <a:latin typeface="Calibri"/>
              <a:ea typeface="Calibri"/>
              <a:cs typeface="Calibri"/>
            </a:endParaRPr>
          </a:p>
          <a:p>
            <a:pPr marL="0" indent="0">
              <a:spcAft>
                <a:spcPts val="300"/>
              </a:spcAft>
              <a:buNone/>
            </a:pPr>
            <a:r>
              <a:rPr lang="en-US" sz="1100">
                <a:solidFill>
                  <a:srgbClr val="0D1B2A"/>
                </a:solidFill>
                <a:latin typeface="Calibri"/>
                <a:ea typeface="Calibri"/>
                <a:cs typeface="Calibri"/>
              </a:rPr>
              <a:t>128 units per direction</a:t>
            </a:r>
            <a:r>
              <a:rPr lang="en-US" sz="1100" dirty="0">
                <a:solidFill>
                  <a:srgbClr val="0D1B2A"/>
                </a:solidFill>
                <a:latin typeface="Calibri"/>
                <a:ea typeface="Calibri"/>
                <a:cs typeface="Calibri"/>
              </a:rPr>
              <a:t>
</a:t>
            </a:r>
            <a:endParaRPr lang="en-US" sz="1100" dirty="0">
              <a:latin typeface="Calibri"/>
              <a:ea typeface="Calibri"/>
              <a:cs typeface="Calibri"/>
            </a:endParaRPr>
          </a:p>
          <a:p>
            <a:pPr marL="0" indent="0">
              <a:spcAft>
                <a:spcPts val="300"/>
              </a:spcAft>
              <a:buNone/>
            </a:pPr>
            <a:r>
              <a:rPr lang="en-US" sz="1100" dirty="0">
                <a:solidFill>
                  <a:srgbClr val="0D1B2A"/>
                </a:solidFill>
                <a:latin typeface="Calibri"/>
                <a:ea typeface="Calibri"/>
                <a:cs typeface="Calibri"/>
              </a:rPr>
              <a:t>Outputs: </a:t>
            </a:r>
            <a:r>
              <a:rPr lang="en-US" sz="1100" dirty="0" err="1">
                <a:solidFill>
                  <a:srgbClr val="0D1B2A"/>
                </a:solidFill>
                <a:latin typeface="Calibri"/>
                <a:ea typeface="Calibri"/>
                <a:cs typeface="Calibri"/>
              </a:rPr>
              <a:t>encoder_outputs</a:t>
            </a:r>
            <a:r>
              <a:rPr lang="en-US" sz="1100" dirty="0">
                <a:solidFill>
                  <a:srgbClr val="0D1B2A"/>
                </a:solidFill>
                <a:latin typeface="Calibri"/>
                <a:ea typeface="Calibri"/>
                <a:cs typeface="Calibri"/>
              </a:rPr>
              <a:t>,</a:t>
            </a:r>
            <a:endParaRPr lang="en-US" sz="1100" dirty="0">
              <a:latin typeface="Calibri"/>
              <a:ea typeface="Calibri"/>
              <a:cs typeface="Calibri"/>
            </a:endParaRPr>
          </a:p>
          <a:p>
            <a:pPr marL="0" indent="0">
              <a:spcAft>
                <a:spcPts val="300"/>
              </a:spcAft>
              <a:buNone/>
            </a:pPr>
            <a:r>
              <a:rPr lang="en-US" sz="1100" dirty="0">
                <a:solidFill>
                  <a:srgbClr val="0D1B2A"/>
                </a:solidFill>
                <a:latin typeface="Calibri" pitchFamily="34" charset="0"/>
                <a:ea typeface="Calibri" pitchFamily="34" charset="-122"/>
                <a:cs typeface="Calibri" pitchFamily="34" charset="-120"/>
              </a:rPr>
              <a:t>forward/backward h &amp; c</a:t>
            </a:r>
            <a:endParaRPr lang="en-US" sz="1100" dirty="0"/>
          </a:p>
        </p:txBody>
      </p:sp>
      <p:sp>
        <p:nvSpPr>
          <p:cNvPr id="7" name="Shape 5"/>
          <p:cNvSpPr/>
          <p:nvPr/>
        </p:nvSpPr>
        <p:spPr>
          <a:xfrm>
            <a:off x="2852928" y="2240280"/>
            <a:ext cx="502920" cy="91440"/>
          </a:xfrm>
          <a:prstGeom prst="rect">
            <a:avLst/>
          </a:prstGeom>
          <a:solidFill>
            <a:srgbClr val="2EC4B6"/>
          </a:solidFill>
          <a:ln w="12700">
            <a:solidFill>
              <a:srgbClr val="2EC4B6"/>
            </a:solidFill>
            <a:prstDash val="solid"/>
          </a:ln>
        </p:spPr>
        <p:txBody>
          <a:bodyPr/>
          <a:lstStyle/>
          <a:p>
            <a:endParaRPr lang="en-US"/>
          </a:p>
        </p:txBody>
      </p:sp>
      <p:sp>
        <p:nvSpPr>
          <p:cNvPr id="8" name="Text 6"/>
          <p:cNvSpPr/>
          <p:nvPr/>
        </p:nvSpPr>
        <p:spPr>
          <a:xfrm>
            <a:off x="2852928" y="2057400"/>
            <a:ext cx="502920" cy="457200"/>
          </a:xfrm>
          <a:prstGeom prst="rect">
            <a:avLst/>
          </a:prstGeom>
          <a:noFill/>
          <a:ln/>
        </p:spPr>
        <p:txBody>
          <a:bodyPr wrap="square" lIns="0" tIns="0" rIns="0" bIns="0" rtlCol="0" anchor="ctr"/>
          <a:lstStyle/>
          <a:p>
            <a:pPr marL="0" indent="0" algn="ctr">
              <a:buNone/>
            </a:pPr>
            <a:r>
              <a:rPr lang="en-US" sz="1800" dirty="0">
                <a:solidFill>
                  <a:srgbClr val="2EC4B6"/>
                </a:solidFill>
              </a:rPr>
              <a:t>→</a:t>
            </a:r>
            <a:endParaRPr lang="en-US" sz="1800" dirty="0"/>
          </a:p>
        </p:txBody>
      </p:sp>
      <p:sp>
        <p:nvSpPr>
          <p:cNvPr id="9" name="Shape 7"/>
          <p:cNvSpPr/>
          <p:nvPr/>
        </p:nvSpPr>
        <p:spPr>
          <a:xfrm>
            <a:off x="3383280" y="1097280"/>
            <a:ext cx="2377440" cy="2377440"/>
          </a:xfrm>
          <a:prstGeom prst="rect">
            <a:avLst/>
          </a:prstGeom>
          <a:solidFill>
            <a:srgbClr val="F0F4F8"/>
          </a:solidFill>
          <a:ln w="12700">
            <a:solidFill>
              <a:srgbClr val="2EC4B6"/>
            </a:solidFill>
            <a:prstDash val="solid"/>
          </a:ln>
          <a:effectLst>
            <a:outerShdw blurRad="101600" dist="38100" dir="8100000" algn="bl" rotWithShape="0">
              <a:srgbClr val="000000">
                <a:alpha val="18000"/>
              </a:srgbClr>
            </a:outerShdw>
          </a:effectLst>
        </p:spPr>
        <p:txBody>
          <a:bodyPr/>
          <a:lstStyle/>
          <a:p>
            <a:endParaRPr lang="en-US"/>
          </a:p>
        </p:txBody>
      </p:sp>
      <p:sp>
        <p:nvSpPr>
          <p:cNvPr id="10" name="Text 8"/>
          <p:cNvSpPr/>
          <p:nvPr/>
        </p:nvSpPr>
        <p:spPr>
          <a:xfrm>
            <a:off x="3383280" y="1097280"/>
            <a:ext cx="2377440" cy="347472"/>
          </a:xfrm>
          <a:prstGeom prst="rect">
            <a:avLst/>
          </a:prstGeom>
          <a:solidFill>
            <a:srgbClr val="2EC4B6"/>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ATTENTION</a:t>
            </a:r>
            <a:endParaRPr lang="en-US" sz="1200" dirty="0"/>
          </a:p>
        </p:txBody>
      </p:sp>
      <p:sp>
        <p:nvSpPr>
          <p:cNvPr id="11" name="Text 9"/>
          <p:cNvSpPr/>
          <p:nvPr/>
        </p:nvSpPr>
        <p:spPr>
          <a:xfrm>
            <a:off x="3474720" y="1554480"/>
            <a:ext cx="2194560" cy="1828800"/>
          </a:xfrm>
          <a:prstGeom prst="rect">
            <a:avLst/>
          </a:prstGeom>
          <a:noFill/>
          <a:ln/>
        </p:spPr>
        <p:txBody>
          <a:bodyPr wrap="square" lIns="91440" tIns="45720" rIns="91440" bIns="45720" rtlCol="0" anchor="ctr"/>
          <a:lstStyle/>
          <a:p>
            <a:pPr marL="0" indent="0">
              <a:spcAft>
                <a:spcPts val="300"/>
              </a:spcAft>
              <a:buNone/>
            </a:pPr>
            <a:r>
              <a:rPr lang="en-US" sz="1100" b="1" dirty="0" err="1">
                <a:solidFill>
                  <a:srgbClr val="0D1B2A"/>
                </a:solidFill>
                <a:latin typeface="Calibri"/>
                <a:ea typeface="Calibri"/>
                <a:cs typeface="Calibri"/>
              </a:rPr>
              <a:t>Bahdanau</a:t>
            </a:r>
            <a:r>
              <a:rPr lang="en-US" sz="1100" b="1" dirty="0">
                <a:solidFill>
                  <a:srgbClr val="0D1B2A"/>
                </a:solidFill>
                <a:latin typeface="Calibri"/>
                <a:ea typeface="Calibri"/>
                <a:cs typeface="Calibri"/>
              </a:rPr>
              <a:t> / Additive
</a:t>
            </a:r>
            <a:endParaRPr lang="en-US" sz="1100" dirty="0">
              <a:latin typeface="Calibri"/>
              <a:ea typeface="Calibri"/>
              <a:cs typeface="Calibri"/>
            </a:endParaRPr>
          </a:p>
          <a:p>
            <a:pPr marL="0" indent="0">
              <a:spcAft>
                <a:spcPts val="300"/>
              </a:spcAft>
              <a:buNone/>
            </a:pPr>
            <a:r>
              <a:rPr lang="en-US" sz="1100" dirty="0" err="1">
                <a:solidFill>
                  <a:srgbClr val="0D1B2A"/>
                </a:solidFill>
                <a:latin typeface="Calibri"/>
                <a:ea typeface="Calibri"/>
                <a:cs typeface="Calibri"/>
              </a:rPr>
              <a:t>AdditiveAttention</a:t>
            </a:r>
            <a:r>
              <a:rPr lang="en-US" sz="1100" dirty="0">
                <a:solidFill>
                  <a:srgbClr val="0D1B2A"/>
                </a:solidFill>
                <a:latin typeface="Calibri"/>
                <a:ea typeface="Calibri"/>
                <a:cs typeface="Calibri"/>
              </a:rPr>
              <a:t>
</a:t>
            </a:r>
            <a:endParaRPr lang="en-US" sz="1100" dirty="0">
              <a:latin typeface="Calibri"/>
              <a:ea typeface="Calibri"/>
              <a:cs typeface="Calibri"/>
            </a:endParaRPr>
          </a:p>
          <a:p>
            <a:pPr marL="0" indent="0">
              <a:spcAft>
                <a:spcPts val="300"/>
              </a:spcAft>
              <a:buNone/>
            </a:pPr>
            <a:r>
              <a:rPr lang="en-US" sz="1100" dirty="0">
                <a:solidFill>
                  <a:srgbClr val="0D1B2A"/>
                </a:solidFill>
                <a:latin typeface="Calibri"/>
                <a:ea typeface="Calibri"/>
                <a:cs typeface="Calibri"/>
              </a:rPr>
              <a:t>Aligns each decoder step
to the most relevant
</a:t>
            </a:r>
            <a:r>
              <a:rPr lang="en-US" sz="1100">
                <a:solidFill>
                  <a:srgbClr val="0D1B2A"/>
                </a:solidFill>
                <a:latin typeface="Calibri"/>
                <a:ea typeface="Calibri"/>
                <a:cs typeface="Calibri"/>
              </a:rPr>
              <a:t>encoder positions</a:t>
            </a:r>
            <a:r>
              <a:rPr lang="en-US" sz="1100" dirty="0">
                <a:solidFill>
                  <a:srgbClr val="0D1B2A"/>
                </a:solidFill>
                <a:latin typeface="Calibri"/>
                <a:ea typeface="Calibri"/>
                <a:cs typeface="Calibri"/>
              </a:rPr>
              <a:t>
</a:t>
            </a:r>
          </a:p>
          <a:p>
            <a:pPr marL="0" indent="0">
              <a:spcAft>
                <a:spcPts val="300"/>
              </a:spcAft>
              <a:buNone/>
            </a:pPr>
            <a:r>
              <a:rPr lang="en-US" sz="1100" dirty="0">
                <a:solidFill>
                  <a:srgbClr val="0D1B2A"/>
                </a:solidFill>
                <a:latin typeface="Calibri" pitchFamily="34" charset="0"/>
                <a:ea typeface="Calibri" pitchFamily="34" charset="-122"/>
                <a:cs typeface="Calibri" pitchFamily="34" charset="-120"/>
              </a:rPr>
              <a:t>Context vector concatenated</a:t>
            </a:r>
            <a:endParaRPr lang="en-US" sz="1100" dirty="0"/>
          </a:p>
          <a:p>
            <a:pPr marL="0" indent="0">
              <a:spcAft>
                <a:spcPts val="300"/>
              </a:spcAft>
              <a:buNone/>
            </a:pPr>
            <a:r>
              <a:rPr lang="en-US" sz="1100" dirty="0">
                <a:solidFill>
                  <a:srgbClr val="0D1B2A"/>
                </a:solidFill>
                <a:latin typeface="Calibri" pitchFamily="34" charset="0"/>
                <a:ea typeface="Calibri" pitchFamily="34" charset="-122"/>
                <a:cs typeface="Calibri" pitchFamily="34" charset="-120"/>
              </a:rPr>
              <a:t>with decoder output</a:t>
            </a:r>
            <a:endParaRPr lang="en-US" sz="1100" dirty="0"/>
          </a:p>
        </p:txBody>
      </p:sp>
      <p:sp>
        <p:nvSpPr>
          <p:cNvPr id="12" name="Text 10"/>
          <p:cNvSpPr/>
          <p:nvPr/>
        </p:nvSpPr>
        <p:spPr>
          <a:xfrm>
            <a:off x="5779008" y="2057400"/>
            <a:ext cx="502920" cy="457200"/>
          </a:xfrm>
          <a:prstGeom prst="rect">
            <a:avLst/>
          </a:prstGeom>
          <a:noFill/>
          <a:ln/>
        </p:spPr>
        <p:txBody>
          <a:bodyPr wrap="square" lIns="0" tIns="0" rIns="0" bIns="0" rtlCol="0" anchor="ctr"/>
          <a:lstStyle/>
          <a:p>
            <a:pPr marL="0" indent="0" algn="ctr">
              <a:buNone/>
            </a:pPr>
            <a:r>
              <a:rPr lang="en-US" sz="1800" dirty="0">
                <a:solidFill>
                  <a:srgbClr val="2EC4B6"/>
                </a:solidFill>
              </a:rPr>
              <a:t>→</a:t>
            </a:r>
            <a:endParaRPr lang="en-US" sz="1800" dirty="0"/>
          </a:p>
        </p:txBody>
      </p:sp>
      <p:sp>
        <p:nvSpPr>
          <p:cNvPr id="13" name="Shape 11"/>
          <p:cNvSpPr/>
          <p:nvPr/>
        </p:nvSpPr>
        <p:spPr>
          <a:xfrm>
            <a:off x="6309360" y="1097280"/>
            <a:ext cx="2560320" cy="2377440"/>
          </a:xfrm>
          <a:prstGeom prst="rect">
            <a:avLst/>
          </a:prstGeom>
          <a:solidFill>
            <a:srgbClr val="F0F4F8"/>
          </a:solidFill>
          <a:ln w="12700">
            <a:solidFill>
              <a:srgbClr val="1B7A8A"/>
            </a:solidFill>
            <a:prstDash val="solid"/>
          </a:ln>
          <a:effectLst>
            <a:outerShdw blurRad="101600" dist="38100" dir="8100000" algn="bl" rotWithShape="0">
              <a:srgbClr val="000000">
                <a:alpha val="18000"/>
              </a:srgbClr>
            </a:outerShdw>
          </a:effectLst>
        </p:spPr>
        <p:txBody>
          <a:bodyPr/>
          <a:lstStyle/>
          <a:p>
            <a:endParaRPr lang="en-US"/>
          </a:p>
        </p:txBody>
      </p:sp>
      <p:sp>
        <p:nvSpPr>
          <p:cNvPr id="14" name="Text 12"/>
          <p:cNvSpPr/>
          <p:nvPr/>
        </p:nvSpPr>
        <p:spPr>
          <a:xfrm>
            <a:off x="6309360" y="1097280"/>
            <a:ext cx="2560320" cy="347472"/>
          </a:xfrm>
          <a:prstGeom prst="rect">
            <a:avLst/>
          </a:prstGeom>
          <a:solidFill>
            <a:srgbClr val="1B7A8A"/>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DECODER</a:t>
            </a:r>
            <a:endParaRPr lang="en-US" sz="1200" dirty="0"/>
          </a:p>
        </p:txBody>
      </p:sp>
      <p:sp>
        <p:nvSpPr>
          <p:cNvPr id="15" name="Text 13"/>
          <p:cNvSpPr/>
          <p:nvPr/>
        </p:nvSpPr>
        <p:spPr>
          <a:xfrm>
            <a:off x="6400800" y="1554480"/>
            <a:ext cx="2377440" cy="1828800"/>
          </a:xfrm>
          <a:prstGeom prst="rect">
            <a:avLst/>
          </a:prstGeom>
          <a:noFill/>
          <a:ln/>
        </p:spPr>
        <p:txBody>
          <a:bodyPr wrap="square" lIns="91440" tIns="45720" rIns="91440" bIns="45720" rtlCol="0" anchor="ctr"/>
          <a:lstStyle/>
          <a:p>
            <a:pPr marL="0" indent="0">
              <a:spcAft>
                <a:spcPts val="300"/>
              </a:spcAft>
              <a:buNone/>
            </a:pPr>
            <a:r>
              <a:rPr lang="en-US" sz="1100" b="1" dirty="0">
                <a:solidFill>
                  <a:srgbClr val="0D1B2A"/>
                </a:solidFill>
                <a:latin typeface="Calibri"/>
                <a:ea typeface="Calibri"/>
                <a:cs typeface="Calibri"/>
              </a:rPr>
              <a:t>AraBERT Embedding
</a:t>
            </a:r>
          </a:p>
          <a:p>
            <a:pPr>
              <a:spcAft>
                <a:spcPts val="300"/>
              </a:spcAft>
            </a:pPr>
            <a:endParaRPr lang="en-US" sz="1100" b="1" dirty="0">
              <a:solidFill>
                <a:srgbClr val="0D1B2A"/>
              </a:solidFill>
              <a:latin typeface="Calibri"/>
              <a:ea typeface="Calibri"/>
              <a:cs typeface="Calibri"/>
            </a:endParaRPr>
          </a:p>
          <a:p>
            <a:pPr marL="0" indent="0">
              <a:spcAft>
                <a:spcPts val="300"/>
              </a:spcAft>
              <a:buNone/>
            </a:pPr>
            <a:r>
              <a:rPr lang="en-US" sz="1100">
                <a:solidFill>
                  <a:srgbClr val="0D1B2A"/>
                </a:solidFill>
                <a:latin typeface="Calibri"/>
                <a:ea typeface="Calibri"/>
                <a:cs typeface="Calibri"/>
              </a:rPr>
              <a:t>(same frozen weights)</a:t>
            </a:r>
          </a:p>
          <a:p>
            <a:pPr marL="0" indent="0">
              <a:spcAft>
                <a:spcPts val="300"/>
              </a:spcAft>
              <a:buNone/>
            </a:pPr>
            <a:r>
              <a:rPr lang="en-US" sz="1100" b="1" dirty="0">
                <a:solidFill>
                  <a:srgbClr val="0D1B2A"/>
                </a:solidFill>
                <a:latin typeface="Calibri"/>
                <a:ea typeface="Calibri"/>
                <a:cs typeface="Calibri"/>
              </a:rPr>
              <a:t>Unidirectional LSTM
</a:t>
            </a:r>
            <a:endParaRPr lang="en-US" sz="1100" dirty="0">
              <a:latin typeface="Calibri"/>
              <a:ea typeface="Calibri"/>
              <a:cs typeface="Calibri"/>
            </a:endParaRPr>
          </a:p>
          <a:p>
            <a:pPr marL="0" indent="0">
              <a:spcAft>
                <a:spcPts val="300"/>
              </a:spcAft>
              <a:buNone/>
            </a:pPr>
            <a:r>
              <a:rPr lang="en-US" sz="1100">
                <a:solidFill>
                  <a:srgbClr val="0D1B2A"/>
                </a:solidFill>
                <a:latin typeface="Calibri"/>
                <a:ea typeface="Calibri"/>
                <a:cs typeface="Calibri"/>
              </a:rPr>
              <a:t>256 units</a:t>
            </a:r>
          </a:p>
          <a:p>
            <a:pPr marL="0" indent="0">
              <a:spcAft>
                <a:spcPts val="300"/>
              </a:spcAft>
              <a:buNone/>
            </a:pPr>
            <a:r>
              <a:rPr lang="en-US" sz="1100" dirty="0">
                <a:solidFill>
                  <a:srgbClr val="0D1B2A"/>
                </a:solidFill>
                <a:latin typeface="Calibri"/>
                <a:ea typeface="Calibri"/>
                <a:cs typeface="Calibri"/>
              </a:rPr>
              <a:t>Dense + </a:t>
            </a:r>
            <a:r>
              <a:rPr lang="en-US" sz="1100" dirty="0" err="1">
                <a:solidFill>
                  <a:srgbClr val="0D1B2A"/>
                </a:solidFill>
                <a:latin typeface="Calibri"/>
                <a:ea typeface="Calibri"/>
                <a:cs typeface="Calibri"/>
              </a:rPr>
              <a:t>Softmax</a:t>
            </a:r>
            <a:endParaRPr lang="en-US" sz="1100" dirty="0" err="1">
              <a:latin typeface="Calibri"/>
              <a:ea typeface="Calibri"/>
              <a:cs typeface="Calibri"/>
            </a:endParaRPr>
          </a:p>
          <a:p>
            <a:pPr marL="0" indent="0">
              <a:spcAft>
                <a:spcPts val="300"/>
              </a:spcAft>
              <a:buNone/>
            </a:pPr>
            <a:r>
              <a:rPr lang="en-US" sz="1100" dirty="0">
                <a:solidFill>
                  <a:srgbClr val="0D1B2A"/>
                </a:solidFill>
                <a:latin typeface="Calibri"/>
                <a:ea typeface="Calibri"/>
                <a:cs typeface="Calibri"/>
              </a:rPr>
              <a:t>over vocab (</a:t>
            </a:r>
            <a:r>
              <a:rPr lang="en-US" sz="1100" dirty="0" err="1">
                <a:solidFill>
                  <a:srgbClr val="0D1B2A"/>
                </a:solidFill>
                <a:latin typeface="Calibri"/>
                <a:ea typeface="Calibri"/>
                <a:cs typeface="Calibri"/>
              </a:rPr>
              <a:t>TimeDistributed</a:t>
            </a:r>
            <a:r>
              <a:rPr lang="en-US" sz="1100" dirty="0">
                <a:solidFill>
                  <a:srgbClr val="0D1B2A"/>
                </a:solidFill>
                <a:latin typeface="Calibri"/>
                <a:ea typeface="Calibri"/>
                <a:cs typeface="Calibri"/>
              </a:rPr>
              <a:t>)</a:t>
            </a:r>
            <a:endParaRPr lang="en-US" sz="1100" dirty="0">
              <a:latin typeface="Calibri"/>
              <a:ea typeface="Calibri"/>
              <a:cs typeface="Calibri"/>
            </a:endParaRPr>
          </a:p>
        </p:txBody>
      </p:sp>
      <p:sp>
        <p:nvSpPr>
          <p:cNvPr id="16" name="Shape 14"/>
          <p:cNvSpPr/>
          <p:nvPr/>
        </p:nvSpPr>
        <p:spPr>
          <a:xfrm>
            <a:off x="274320" y="3703320"/>
            <a:ext cx="8549640" cy="1188720"/>
          </a:xfrm>
          <a:prstGeom prst="rect">
            <a:avLst/>
          </a:prstGeom>
          <a:solidFill>
            <a:srgbClr val="F0F4F8"/>
          </a:solidFill>
          <a:ln w="12700">
            <a:solidFill>
              <a:srgbClr val="D6E8EE"/>
            </a:solidFill>
            <a:prstDash val="solid"/>
          </a:ln>
        </p:spPr>
        <p:txBody>
          <a:bodyPr/>
          <a:lstStyle/>
          <a:p>
            <a:endParaRPr lang="en-US"/>
          </a:p>
        </p:txBody>
      </p:sp>
      <p:sp>
        <p:nvSpPr>
          <p:cNvPr id="17" name="Text 15"/>
          <p:cNvSpPr/>
          <p:nvPr/>
        </p:nvSpPr>
        <p:spPr>
          <a:xfrm>
            <a:off x="457200" y="3749040"/>
            <a:ext cx="3657600" cy="320040"/>
          </a:xfrm>
          <a:prstGeom prst="rect">
            <a:avLst/>
          </a:prstGeom>
          <a:noFill/>
          <a:ln/>
        </p:spPr>
        <p:txBody>
          <a:bodyPr wrap="square" lIns="0" tIns="0" rIns="0" bIns="0" rtlCol="0" anchor="ctr"/>
          <a:lstStyle/>
          <a:p>
            <a:pPr marL="0" indent="0">
              <a:buNone/>
            </a:pPr>
            <a:r>
              <a:rPr lang="en-US" sz="1200" b="1" dirty="0">
                <a:solidFill>
                  <a:srgbClr val="1B7A8A"/>
                </a:solidFill>
                <a:latin typeface="Calibri" pitchFamily="34" charset="0"/>
                <a:ea typeface="Calibri" pitchFamily="34" charset="-122"/>
                <a:cs typeface="Calibri" pitchFamily="34" charset="-120"/>
              </a:rPr>
              <a:t>Key Design Decisions</a:t>
            </a:r>
            <a:endParaRPr lang="en-US" sz="1200" dirty="0"/>
          </a:p>
        </p:txBody>
      </p:sp>
      <p:sp>
        <p:nvSpPr>
          <p:cNvPr id="18" name="Text 16"/>
          <p:cNvSpPr/>
          <p:nvPr/>
        </p:nvSpPr>
        <p:spPr>
          <a:xfrm>
            <a:off x="457200" y="4096512"/>
            <a:ext cx="8321040" cy="731520"/>
          </a:xfrm>
          <a:prstGeom prst="rect">
            <a:avLst/>
          </a:prstGeom>
          <a:noFill/>
          <a:ln/>
        </p:spPr>
        <p:txBody>
          <a:bodyPr wrap="square" rtlCol="0" anchor="ctr"/>
          <a:lstStyle/>
          <a:p>
            <a:pPr marL="342900" indent="-342900">
              <a:buSzPct val="100000"/>
              <a:buChar char="•"/>
            </a:pPr>
            <a:r>
              <a:rPr lang="en-US" sz="1050" dirty="0">
                <a:solidFill>
                  <a:srgbClr val="0D1B2A"/>
                </a:solidFill>
                <a:latin typeface="Calibri" pitchFamily="34" charset="0"/>
                <a:ea typeface="Calibri" pitchFamily="34" charset="-122"/>
                <a:cs typeface="Calibri" pitchFamily="34" charset="-120"/>
              </a:rPr>
              <a:t>Frozen AraBERT embeddings (768-dim) → saves GPU, leverages 100M-param pretrained knowledge</a:t>
            </a:r>
            <a:endParaRPr lang="en-US" sz="1050" dirty="0"/>
          </a:p>
          <a:p>
            <a:pPr marL="342900" indent="-342900">
              <a:buSzPct val="100000"/>
              <a:buChar char="•"/>
            </a:pPr>
            <a:r>
              <a:rPr lang="en-US" sz="1050" dirty="0">
                <a:solidFill>
                  <a:srgbClr val="0D1B2A"/>
                </a:solidFill>
                <a:latin typeface="Calibri" pitchFamily="34" charset="0"/>
                <a:ea typeface="Calibri" pitchFamily="34" charset="-122"/>
                <a:cs typeface="Calibri" pitchFamily="34" charset="-120"/>
              </a:rPr>
              <a:t>Bidirectional encoder → captures both left-to-right and right-to-left context in Arabic</a:t>
            </a:r>
            <a:endParaRPr lang="en-US" sz="1050" dirty="0"/>
          </a:p>
          <a:p>
            <a:pPr marL="342900" indent="-342900">
              <a:buSzPct val="100000"/>
              <a:buChar char="•"/>
            </a:pPr>
            <a:r>
              <a:rPr lang="en-US" sz="1050" dirty="0">
                <a:solidFill>
                  <a:srgbClr val="0D1B2A"/>
                </a:solidFill>
                <a:latin typeface="Calibri" pitchFamily="34" charset="0"/>
                <a:ea typeface="Calibri" pitchFamily="34" charset="-122"/>
                <a:cs typeface="Calibri" pitchFamily="34" charset="-120"/>
              </a:rPr>
              <a:t>Temperature sampling (T=0.5) + repetition penalty → prevents degenerate repeated outputs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91440"/>
            <a:ext cx="8229600" cy="566928"/>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Code Spotlight — Building the Seq2Seq Model</a:t>
            </a:r>
            <a:endParaRPr lang="en-US" sz="2000" dirty="0"/>
          </a:p>
        </p:txBody>
      </p:sp>
      <p:sp>
        <p:nvSpPr>
          <p:cNvPr id="4" name="Shape 2"/>
          <p:cNvSpPr/>
          <p:nvPr/>
        </p:nvSpPr>
        <p:spPr>
          <a:xfrm>
            <a:off x="274320" y="868680"/>
            <a:ext cx="4114800" cy="4069080"/>
          </a:xfrm>
          <a:prstGeom prst="rect">
            <a:avLst/>
          </a:prstGeom>
          <a:solidFill>
            <a:srgbClr val="1E2D3D"/>
          </a:solidFill>
          <a:ln w="12700">
            <a:solidFill>
              <a:srgbClr val="2A3F55"/>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502920" y="978408"/>
            <a:ext cx="146304" cy="146304"/>
          </a:xfrm>
          <a:prstGeom prst="ellipse">
            <a:avLst/>
          </a:prstGeom>
          <a:solidFill>
            <a:srgbClr val="E06C75"/>
          </a:solidFill>
          <a:ln w="12700">
            <a:solidFill>
              <a:srgbClr val="E06C75"/>
            </a:solidFill>
            <a:prstDash val="solid"/>
          </a:ln>
        </p:spPr>
        <p:txBody>
          <a:bodyPr/>
          <a:lstStyle/>
          <a:p>
            <a:endParaRPr lang="en-US"/>
          </a:p>
        </p:txBody>
      </p:sp>
      <p:sp>
        <p:nvSpPr>
          <p:cNvPr id="6" name="Shape 4"/>
          <p:cNvSpPr/>
          <p:nvPr/>
        </p:nvSpPr>
        <p:spPr>
          <a:xfrm>
            <a:off x="758952" y="978408"/>
            <a:ext cx="146304" cy="146304"/>
          </a:xfrm>
          <a:prstGeom prst="ellipse">
            <a:avLst/>
          </a:prstGeom>
          <a:solidFill>
            <a:srgbClr val="E5C07B"/>
          </a:solidFill>
          <a:ln w="12700">
            <a:solidFill>
              <a:srgbClr val="E5C07B"/>
            </a:solidFill>
            <a:prstDash val="solid"/>
          </a:ln>
        </p:spPr>
        <p:txBody>
          <a:bodyPr/>
          <a:lstStyle/>
          <a:p>
            <a:endParaRPr lang="en-US"/>
          </a:p>
        </p:txBody>
      </p:sp>
      <p:sp>
        <p:nvSpPr>
          <p:cNvPr id="7" name="Shape 5"/>
          <p:cNvSpPr/>
          <p:nvPr/>
        </p:nvSpPr>
        <p:spPr>
          <a:xfrm>
            <a:off x="1014984" y="978408"/>
            <a:ext cx="146304" cy="146304"/>
          </a:xfrm>
          <a:prstGeom prst="ellipse">
            <a:avLst/>
          </a:prstGeom>
          <a:solidFill>
            <a:srgbClr val="98C379"/>
          </a:solidFill>
          <a:ln w="12700">
            <a:solidFill>
              <a:srgbClr val="98C379"/>
            </a:solidFill>
            <a:prstDash val="solid"/>
          </a:ln>
        </p:spPr>
        <p:txBody>
          <a:bodyPr/>
          <a:lstStyle/>
          <a:p>
            <a:endParaRPr lang="en-US"/>
          </a:p>
        </p:txBody>
      </p:sp>
      <p:sp>
        <p:nvSpPr>
          <p:cNvPr id="8" name="Text 6"/>
          <p:cNvSpPr/>
          <p:nvPr/>
        </p:nvSpPr>
        <p:spPr>
          <a:xfrm>
            <a:off x="1280160" y="932688"/>
            <a:ext cx="2743200" cy="237744"/>
          </a:xfrm>
          <a:prstGeom prst="rect">
            <a:avLst/>
          </a:prstGeom>
          <a:noFill/>
          <a:ln/>
        </p:spPr>
        <p:txBody>
          <a:bodyPr wrap="square" lIns="0" tIns="0" rIns="0" bIns="0" rtlCol="0" anchor="ctr"/>
          <a:lstStyle/>
          <a:p>
            <a:pPr marL="0" indent="0">
              <a:buNone/>
            </a:pPr>
            <a:r>
              <a:rPr lang="en-US" sz="900" dirty="0">
                <a:solidFill>
                  <a:srgbClr val="6B8FAE"/>
                </a:solidFill>
                <a:latin typeface="Consolas" pitchFamily="34" charset="0"/>
                <a:ea typeface="Consolas" pitchFamily="34" charset="-122"/>
                <a:cs typeface="Consolas" pitchFamily="34" charset="-120"/>
              </a:rPr>
              <a:t>encoder</a:t>
            </a:r>
            <a:endParaRPr lang="en-US" sz="900" dirty="0"/>
          </a:p>
        </p:txBody>
      </p:sp>
      <p:sp>
        <p:nvSpPr>
          <p:cNvPr id="9" name="Text 7"/>
          <p:cNvSpPr/>
          <p:nvPr/>
        </p:nvSpPr>
        <p:spPr>
          <a:xfrm>
            <a:off x="411480" y="1252728"/>
            <a:ext cx="3840480" cy="3566160"/>
          </a:xfrm>
          <a:prstGeom prst="rect">
            <a:avLst/>
          </a:prstGeom>
          <a:noFill/>
          <a:ln/>
        </p:spPr>
        <p:txBody>
          <a:bodyPr wrap="square" rtlCol="0" anchor="ctr"/>
          <a:lstStyle/>
          <a:p>
            <a:pPr marL="0" indent="0">
              <a:buNone/>
            </a:pPr>
            <a:r>
              <a:rPr lang="en-US" sz="1000" i="1" dirty="0">
                <a:solidFill>
                  <a:srgbClr val="5C6370"/>
                </a:solidFill>
                <a:latin typeface="Consolas" pitchFamily="34" charset="0"/>
                <a:ea typeface="Consolas" pitchFamily="34" charset="-122"/>
                <a:cs typeface="Consolas" pitchFamily="34" charset="-120"/>
              </a:rPr>
              <a:t># ── ENCODER ──────────────────
</a:t>
            </a:r>
            <a:r>
              <a:rPr lang="en-US" sz="1000" dirty="0">
                <a:solidFill>
                  <a:srgbClr val="ABB2BF"/>
                </a:solidFill>
                <a:latin typeface="Consolas" pitchFamily="34" charset="0"/>
                <a:ea typeface="Consolas" pitchFamily="34" charset="-122"/>
                <a:cs typeface="Consolas" pitchFamily="34" charset="-120"/>
              </a:rPr>
              <a:t>encoder_inputs = </a:t>
            </a:r>
            <a:r>
              <a:rPr lang="en-US" sz="1000" dirty="0">
                <a:solidFill>
                  <a:srgbClr val="61AFEF"/>
                </a:solidFill>
                <a:latin typeface="Consolas" pitchFamily="34" charset="0"/>
                <a:ea typeface="Consolas" pitchFamily="34" charset="-122"/>
                <a:cs typeface="Consolas" pitchFamily="34" charset="-120"/>
              </a:rPr>
              <a:t>Input</a:t>
            </a:r>
            <a:r>
              <a:rPr lang="en-US" sz="1000" dirty="0">
                <a:solidFill>
                  <a:srgbClr val="ABB2BF"/>
                </a:solidFill>
                <a:latin typeface="Consolas" pitchFamily="34" charset="0"/>
                <a:ea typeface="Consolas" pitchFamily="34" charset="-122"/>
                <a:cs typeface="Consolas" pitchFamily="34" charset="-120"/>
              </a:rPr>
              <a:t>(
</a:t>
            </a:r>
            <a:r>
              <a:rPr lang="en-US" sz="1000" dirty="0">
                <a:solidFill>
                  <a:srgbClr val="E5C07B"/>
                </a:solidFill>
                <a:latin typeface="Consolas" pitchFamily="34" charset="0"/>
                <a:ea typeface="Consolas" pitchFamily="34" charset="-122"/>
                <a:cs typeface="Consolas" pitchFamily="34" charset="-120"/>
              </a:rPr>
              <a:t>    shape=(MAX_TEXT_LEN,))
</a:t>
            </a:r>
            <a:r>
              <a:rPr lang="en-US" sz="1000" dirty="0">
                <a:solidFill>
                  <a:srgbClr val="ABB2BF"/>
                </a:solidFill>
                <a:latin typeface="Consolas" pitchFamily="34" charset="0"/>
                <a:ea typeface="Consolas" pitchFamily="34" charset="-122"/>
                <a:cs typeface="Consolas" pitchFamily="34" charset="-120"/>
              </a:rPr>
              <a:t>enc_emb = </a:t>
            </a:r>
            <a:r>
              <a:rPr lang="en-US" sz="1000" dirty="0">
                <a:solidFill>
                  <a:srgbClr val="61AFEF"/>
                </a:solidFill>
                <a:latin typeface="Consolas" pitchFamily="34" charset="0"/>
                <a:ea typeface="Consolas" pitchFamily="34" charset="-122"/>
                <a:cs typeface="Consolas" pitchFamily="34" charset="-120"/>
              </a:rPr>
              <a:t>Embedding</a:t>
            </a:r>
            <a:r>
              <a:rPr lang="en-US" sz="1000" dirty="0">
                <a:solidFill>
                  <a:srgbClr val="ABB2BF"/>
                </a:solidFill>
                <a:latin typeface="Consolas" pitchFamily="34" charset="0"/>
                <a:ea typeface="Consolas" pitchFamily="34" charset="-122"/>
                <a:cs typeface="Consolas" pitchFamily="34" charset="-120"/>
              </a:rPr>
              <a:t>(
</a:t>
            </a:r>
            <a:r>
              <a:rPr lang="en-US" sz="1000" dirty="0">
                <a:solidFill>
                  <a:srgbClr val="E5C07B"/>
                </a:solidFill>
                <a:latin typeface="Consolas" pitchFamily="34" charset="0"/>
                <a:ea typeface="Consolas" pitchFamily="34" charset="-122"/>
                <a:cs typeface="Consolas" pitchFamily="34" charset="-120"/>
              </a:rPr>
              <a:t>    VOCAB_SIZE, EMBED_DIM,
    weights=[pretrained_weights],
    trainable=</a:t>
            </a:r>
            <a:r>
              <a:rPr lang="en-US" sz="1000" dirty="0">
                <a:solidFill>
                  <a:srgbClr val="C678DD"/>
                </a:solidFill>
                <a:latin typeface="Consolas" pitchFamily="34" charset="0"/>
                <a:ea typeface="Consolas" pitchFamily="34" charset="-122"/>
                <a:cs typeface="Consolas" pitchFamily="34" charset="-120"/>
              </a:rPr>
              <a:t>False</a:t>
            </a:r>
            <a:r>
              <a:rPr lang="en-US" sz="1000" dirty="0">
                <a:solidFill>
                  <a:srgbClr val="ABB2BF"/>
                </a:solidFill>
                <a:latin typeface="Consolas" pitchFamily="34" charset="0"/>
                <a:ea typeface="Consolas" pitchFamily="34" charset="-122"/>
                <a:cs typeface="Consolas" pitchFamily="34" charset="-120"/>
              </a:rPr>
              <a:t>)(encoder_inputs)
enc_lstm = </a:t>
            </a:r>
            <a:r>
              <a:rPr lang="en-US" sz="1000" dirty="0">
                <a:solidFill>
                  <a:srgbClr val="61AFEF"/>
                </a:solidFill>
                <a:latin typeface="Consolas" pitchFamily="34" charset="0"/>
                <a:ea typeface="Consolas" pitchFamily="34" charset="-122"/>
                <a:cs typeface="Consolas" pitchFamily="34" charset="-120"/>
              </a:rPr>
              <a:t>Bidirectional</a:t>
            </a:r>
            <a:r>
              <a:rPr lang="en-US" sz="1000" dirty="0">
                <a:solidFill>
                  <a:srgbClr val="ABB2BF"/>
                </a:solidFill>
                <a:latin typeface="Consolas" pitchFamily="34" charset="0"/>
                <a:ea typeface="Consolas" pitchFamily="34" charset="-122"/>
                <a:cs typeface="Consolas" pitchFamily="34" charset="-120"/>
              </a:rPr>
              <a:t>(
    LSTM(</a:t>
            </a:r>
            <a:r>
              <a:rPr lang="en-US" sz="1000" dirty="0">
                <a:solidFill>
                  <a:srgbClr val="D19A66"/>
                </a:solidFill>
                <a:latin typeface="Consolas" pitchFamily="34" charset="0"/>
                <a:ea typeface="Consolas" pitchFamily="34" charset="-122"/>
                <a:cs typeface="Consolas" pitchFamily="34" charset="-120"/>
              </a:rPr>
              <a:t>128</a:t>
            </a:r>
            <a:r>
              <a:rPr lang="en-US" sz="1000" dirty="0">
                <a:solidFill>
                  <a:srgbClr val="ABB2BF"/>
                </a:solidFill>
                <a:latin typeface="Consolas" pitchFamily="34" charset="0"/>
                <a:ea typeface="Consolas" pitchFamily="34" charset="-122"/>
                <a:cs typeface="Consolas" pitchFamily="34" charset="-120"/>
              </a:rPr>
              <a:t>,
         return_sequences=</a:t>
            </a:r>
            <a:r>
              <a:rPr lang="en-US" sz="1000" dirty="0">
                <a:solidFill>
                  <a:srgbClr val="C678DD"/>
                </a:solidFill>
                <a:latin typeface="Consolas" pitchFamily="34" charset="0"/>
                <a:ea typeface="Consolas" pitchFamily="34" charset="-122"/>
                <a:cs typeface="Consolas" pitchFamily="34" charset="-120"/>
              </a:rPr>
              <a:t>True</a:t>
            </a:r>
            <a:r>
              <a:rPr lang="en-US" sz="1000" dirty="0">
                <a:solidFill>
                  <a:srgbClr val="ABB2BF"/>
                </a:solidFill>
                <a:latin typeface="Consolas" pitchFamily="34" charset="0"/>
                <a:ea typeface="Consolas" pitchFamily="34" charset="-122"/>
                <a:cs typeface="Consolas" pitchFamily="34" charset="-120"/>
              </a:rPr>
              <a:t>,
         return_state=</a:t>
            </a:r>
            <a:r>
              <a:rPr lang="en-US" sz="1000" dirty="0">
                <a:solidFill>
                  <a:srgbClr val="C678DD"/>
                </a:solidFill>
                <a:latin typeface="Consolas" pitchFamily="34" charset="0"/>
                <a:ea typeface="Consolas" pitchFamily="34" charset="-122"/>
                <a:cs typeface="Consolas" pitchFamily="34" charset="-120"/>
              </a:rPr>
              <a:t>True</a:t>
            </a:r>
            <a:r>
              <a:rPr lang="en-US" sz="1000" dirty="0">
                <a:solidFill>
                  <a:srgbClr val="ABB2BF"/>
                </a:solidFill>
                <a:latin typeface="Consolas" pitchFamily="34" charset="0"/>
                <a:ea typeface="Consolas" pitchFamily="34" charset="-122"/>
                <a:cs typeface="Consolas" pitchFamily="34" charset="-120"/>
              </a:rPr>
              <a:t>))
enc_out, fh, fc, bh, bc = enc_lstm(enc_emb)
state_h = </a:t>
            </a:r>
            <a:r>
              <a:rPr lang="en-US" sz="1000" dirty="0">
                <a:solidFill>
                  <a:srgbClr val="61AFEF"/>
                </a:solidFill>
                <a:latin typeface="Consolas" pitchFamily="34" charset="0"/>
                <a:ea typeface="Consolas" pitchFamily="34" charset="-122"/>
                <a:cs typeface="Consolas" pitchFamily="34" charset="-120"/>
              </a:rPr>
              <a:t>Concatenate</a:t>
            </a:r>
            <a:r>
              <a:rPr lang="en-US" sz="1000" dirty="0">
                <a:solidFill>
                  <a:srgbClr val="ABB2BF"/>
                </a:solidFill>
                <a:latin typeface="Consolas" pitchFamily="34" charset="0"/>
                <a:ea typeface="Consolas" pitchFamily="34" charset="-122"/>
                <a:cs typeface="Consolas" pitchFamily="34" charset="-120"/>
              </a:rPr>
              <a:t>()([fh, bh])
state_c = </a:t>
            </a:r>
            <a:r>
              <a:rPr lang="en-US" sz="1000" dirty="0">
                <a:solidFill>
                  <a:srgbClr val="61AFEF"/>
                </a:solidFill>
                <a:latin typeface="Consolas" pitchFamily="34" charset="0"/>
                <a:ea typeface="Consolas" pitchFamily="34" charset="-122"/>
                <a:cs typeface="Consolas" pitchFamily="34" charset="-120"/>
              </a:rPr>
              <a:t>Concatenate</a:t>
            </a:r>
            <a:r>
              <a:rPr lang="en-US" sz="1000" dirty="0">
                <a:solidFill>
                  <a:srgbClr val="ABB2BF"/>
                </a:solidFill>
                <a:latin typeface="Consolas" pitchFamily="34" charset="0"/>
                <a:ea typeface="Consolas" pitchFamily="34" charset="-122"/>
                <a:cs typeface="Consolas" pitchFamily="34" charset="-120"/>
              </a:rPr>
              <a:t>()([fc, bc])</a:t>
            </a:r>
            <a:endParaRPr lang="en-US" sz="1000" dirty="0"/>
          </a:p>
        </p:txBody>
      </p:sp>
      <p:sp>
        <p:nvSpPr>
          <p:cNvPr id="10" name="Shape 8"/>
          <p:cNvSpPr/>
          <p:nvPr/>
        </p:nvSpPr>
        <p:spPr>
          <a:xfrm>
            <a:off x="4754880" y="868680"/>
            <a:ext cx="4114800" cy="4069080"/>
          </a:xfrm>
          <a:prstGeom prst="rect">
            <a:avLst/>
          </a:prstGeom>
          <a:solidFill>
            <a:srgbClr val="1E2D3D"/>
          </a:solidFill>
          <a:ln w="12700">
            <a:solidFill>
              <a:srgbClr val="2A3F55"/>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983480" y="978408"/>
            <a:ext cx="146304" cy="146304"/>
          </a:xfrm>
          <a:prstGeom prst="ellipse">
            <a:avLst/>
          </a:prstGeom>
          <a:solidFill>
            <a:srgbClr val="E06C75"/>
          </a:solidFill>
          <a:ln w="12700">
            <a:solidFill>
              <a:srgbClr val="E06C75"/>
            </a:solidFill>
            <a:prstDash val="solid"/>
          </a:ln>
        </p:spPr>
        <p:txBody>
          <a:bodyPr/>
          <a:lstStyle/>
          <a:p>
            <a:endParaRPr lang="en-US"/>
          </a:p>
        </p:txBody>
      </p:sp>
      <p:sp>
        <p:nvSpPr>
          <p:cNvPr id="12" name="Shape 10"/>
          <p:cNvSpPr/>
          <p:nvPr/>
        </p:nvSpPr>
        <p:spPr>
          <a:xfrm>
            <a:off x="5239512" y="978408"/>
            <a:ext cx="146304" cy="146304"/>
          </a:xfrm>
          <a:prstGeom prst="ellipse">
            <a:avLst/>
          </a:prstGeom>
          <a:solidFill>
            <a:srgbClr val="E5C07B"/>
          </a:solidFill>
          <a:ln w="12700">
            <a:solidFill>
              <a:srgbClr val="E5C07B"/>
            </a:solidFill>
            <a:prstDash val="solid"/>
          </a:ln>
        </p:spPr>
        <p:txBody>
          <a:bodyPr/>
          <a:lstStyle/>
          <a:p>
            <a:endParaRPr lang="en-US"/>
          </a:p>
        </p:txBody>
      </p:sp>
      <p:sp>
        <p:nvSpPr>
          <p:cNvPr id="13" name="Shape 11"/>
          <p:cNvSpPr/>
          <p:nvPr/>
        </p:nvSpPr>
        <p:spPr>
          <a:xfrm>
            <a:off x="5495544" y="978408"/>
            <a:ext cx="146304" cy="146304"/>
          </a:xfrm>
          <a:prstGeom prst="ellipse">
            <a:avLst/>
          </a:prstGeom>
          <a:solidFill>
            <a:srgbClr val="98C379"/>
          </a:solidFill>
          <a:ln w="12700">
            <a:solidFill>
              <a:srgbClr val="98C379"/>
            </a:solidFill>
            <a:prstDash val="solid"/>
          </a:ln>
        </p:spPr>
        <p:txBody>
          <a:bodyPr/>
          <a:lstStyle/>
          <a:p>
            <a:endParaRPr lang="en-US"/>
          </a:p>
        </p:txBody>
      </p:sp>
      <p:sp>
        <p:nvSpPr>
          <p:cNvPr id="14" name="Text 12"/>
          <p:cNvSpPr/>
          <p:nvPr/>
        </p:nvSpPr>
        <p:spPr>
          <a:xfrm>
            <a:off x="5760720" y="932688"/>
            <a:ext cx="2926080" cy="237744"/>
          </a:xfrm>
          <a:prstGeom prst="rect">
            <a:avLst/>
          </a:prstGeom>
          <a:noFill/>
          <a:ln/>
        </p:spPr>
        <p:txBody>
          <a:bodyPr wrap="square" lIns="0" tIns="0" rIns="0" bIns="0" rtlCol="0" anchor="ctr"/>
          <a:lstStyle/>
          <a:p>
            <a:pPr marL="0" indent="0">
              <a:buNone/>
            </a:pPr>
            <a:r>
              <a:rPr lang="en-US" sz="900" dirty="0">
                <a:solidFill>
                  <a:srgbClr val="6B8FAE"/>
                </a:solidFill>
                <a:latin typeface="Consolas" pitchFamily="34" charset="0"/>
                <a:ea typeface="Consolas" pitchFamily="34" charset="-122"/>
                <a:cs typeface="Consolas" pitchFamily="34" charset="-120"/>
              </a:rPr>
              <a:t>decoder + attention</a:t>
            </a:r>
            <a:endParaRPr lang="en-US" sz="900" dirty="0"/>
          </a:p>
        </p:txBody>
      </p:sp>
      <p:sp>
        <p:nvSpPr>
          <p:cNvPr id="15" name="Text 13"/>
          <p:cNvSpPr/>
          <p:nvPr/>
        </p:nvSpPr>
        <p:spPr>
          <a:xfrm>
            <a:off x="4892040" y="1252728"/>
            <a:ext cx="3840480" cy="3566160"/>
          </a:xfrm>
          <a:prstGeom prst="rect">
            <a:avLst/>
          </a:prstGeom>
          <a:noFill/>
          <a:ln/>
        </p:spPr>
        <p:txBody>
          <a:bodyPr wrap="square" rtlCol="0" anchor="ctr"/>
          <a:lstStyle/>
          <a:p>
            <a:pPr marL="0" indent="0">
              <a:buNone/>
            </a:pPr>
            <a:r>
              <a:rPr lang="en-US" sz="1000" i="1" dirty="0">
                <a:solidFill>
                  <a:srgbClr val="5C6370"/>
                </a:solidFill>
                <a:latin typeface="Consolas" pitchFamily="34" charset="0"/>
                <a:ea typeface="Consolas" pitchFamily="34" charset="-122"/>
                <a:cs typeface="Consolas" pitchFamily="34" charset="-120"/>
              </a:rPr>
              <a:t># ── DECODER ──────────────────
</a:t>
            </a:r>
            <a:r>
              <a:rPr lang="en-US" sz="1000" dirty="0">
                <a:solidFill>
                  <a:srgbClr val="ABB2BF"/>
                </a:solidFill>
                <a:latin typeface="Consolas" pitchFamily="34" charset="0"/>
                <a:ea typeface="Consolas" pitchFamily="34" charset="-122"/>
                <a:cs typeface="Consolas" pitchFamily="34" charset="-120"/>
              </a:rPr>
              <a:t>decoder_inputs = </a:t>
            </a:r>
            <a:r>
              <a:rPr lang="en-US" sz="1000" dirty="0">
                <a:solidFill>
                  <a:srgbClr val="61AFEF"/>
                </a:solidFill>
                <a:latin typeface="Consolas" pitchFamily="34" charset="0"/>
                <a:ea typeface="Consolas" pitchFamily="34" charset="-122"/>
                <a:cs typeface="Consolas" pitchFamily="34" charset="-120"/>
              </a:rPr>
              <a:t>Input</a:t>
            </a:r>
            <a:r>
              <a:rPr lang="en-US" sz="1000" dirty="0">
                <a:solidFill>
                  <a:srgbClr val="ABB2BF"/>
                </a:solidFill>
                <a:latin typeface="Consolas" pitchFamily="34" charset="0"/>
                <a:ea typeface="Consolas" pitchFamily="34" charset="-122"/>
                <a:cs typeface="Consolas" pitchFamily="34" charset="-120"/>
              </a:rPr>
              <a:t>(
    shape=(MAX_TARGET_LEN-</a:t>
            </a:r>
            <a:r>
              <a:rPr lang="en-US" sz="1000" dirty="0">
                <a:solidFill>
                  <a:srgbClr val="D19A66"/>
                </a:solidFill>
                <a:latin typeface="Consolas" pitchFamily="34" charset="0"/>
                <a:ea typeface="Consolas" pitchFamily="34" charset="-122"/>
                <a:cs typeface="Consolas" pitchFamily="34" charset="-120"/>
              </a:rPr>
              <a:t>1</a:t>
            </a:r>
            <a:r>
              <a:rPr lang="en-US" sz="1000" dirty="0">
                <a:solidFill>
                  <a:srgbClr val="ABB2BF"/>
                </a:solidFill>
                <a:latin typeface="Consolas" pitchFamily="34" charset="0"/>
                <a:ea typeface="Consolas" pitchFamily="34" charset="-122"/>
                <a:cs typeface="Consolas" pitchFamily="34" charset="-120"/>
              </a:rPr>
              <a:t>,))
dec_lstm = </a:t>
            </a:r>
            <a:r>
              <a:rPr lang="en-US" sz="1000" dirty="0">
                <a:solidFill>
                  <a:srgbClr val="61AFEF"/>
                </a:solidFill>
                <a:latin typeface="Consolas" pitchFamily="34" charset="0"/>
                <a:ea typeface="Consolas" pitchFamily="34" charset="-122"/>
                <a:cs typeface="Consolas" pitchFamily="34" charset="-120"/>
              </a:rPr>
              <a:t>LSTM</a:t>
            </a:r>
            <a:r>
              <a:rPr lang="en-US" sz="1000" dirty="0">
                <a:solidFill>
                  <a:srgbClr val="ABB2BF"/>
                </a:solidFill>
                <a:latin typeface="Consolas" pitchFamily="34" charset="0"/>
                <a:ea typeface="Consolas" pitchFamily="34" charset="-122"/>
                <a:cs typeface="Consolas" pitchFamily="34" charset="-120"/>
              </a:rPr>
              <a:t>(
    </a:t>
            </a:r>
            <a:r>
              <a:rPr lang="en-US" sz="1000" dirty="0">
                <a:solidFill>
                  <a:srgbClr val="D19A66"/>
                </a:solidFill>
                <a:latin typeface="Consolas" pitchFamily="34" charset="0"/>
                <a:ea typeface="Consolas" pitchFamily="34" charset="-122"/>
                <a:cs typeface="Consolas" pitchFamily="34" charset="-120"/>
              </a:rPr>
              <a:t>256</a:t>
            </a:r>
            <a:r>
              <a:rPr lang="en-US" sz="1000" dirty="0">
                <a:solidFill>
                  <a:srgbClr val="ABB2BF"/>
                </a:solidFill>
                <a:latin typeface="Consolas" pitchFamily="34" charset="0"/>
                <a:ea typeface="Consolas" pitchFamily="34" charset="-122"/>
                <a:cs typeface="Consolas" pitchFamily="34" charset="-120"/>
              </a:rPr>
              <a:t>, return_sequences=</a:t>
            </a:r>
            <a:r>
              <a:rPr lang="en-US" sz="1000" dirty="0">
                <a:solidFill>
                  <a:srgbClr val="C678DD"/>
                </a:solidFill>
                <a:latin typeface="Consolas" pitchFamily="34" charset="0"/>
                <a:ea typeface="Consolas" pitchFamily="34" charset="-122"/>
                <a:cs typeface="Consolas" pitchFamily="34" charset="-120"/>
              </a:rPr>
              <a:t>True</a:t>
            </a:r>
            <a:r>
              <a:rPr lang="en-US" sz="1000" dirty="0">
                <a:solidFill>
                  <a:srgbClr val="ABB2BF"/>
                </a:solidFill>
                <a:latin typeface="Consolas" pitchFamily="34" charset="0"/>
                <a:ea typeface="Consolas" pitchFamily="34" charset="-122"/>
                <a:cs typeface="Consolas" pitchFamily="34" charset="-120"/>
              </a:rPr>
              <a:t>,
    return_state=</a:t>
            </a:r>
            <a:r>
              <a:rPr lang="en-US" sz="1000" dirty="0">
                <a:solidFill>
                  <a:srgbClr val="C678DD"/>
                </a:solidFill>
                <a:latin typeface="Consolas" pitchFamily="34" charset="0"/>
                <a:ea typeface="Consolas" pitchFamily="34" charset="-122"/>
                <a:cs typeface="Consolas" pitchFamily="34" charset="-120"/>
              </a:rPr>
              <a:t>True</a:t>
            </a:r>
            <a:r>
              <a:rPr lang="en-US" sz="1000" dirty="0">
                <a:solidFill>
                  <a:srgbClr val="ABB2BF"/>
                </a:solidFill>
                <a:latin typeface="Consolas" pitchFamily="34" charset="0"/>
                <a:ea typeface="Consolas" pitchFamily="34" charset="-122"/>
                <a:cs typeface="Consolas" pitchFamily="34" charset="-120"/>
              </a:rPr>
              <a:t>)
dec_out, _, _ = dec_lstm(dec_emb,
    initial_state=[state_h, state_c])
</a:t>
            </a:r>
            <a:r>
              <a:rPr lang="en-US" sz="1000" i="1" dirty="0">
                <a:solidFill>
                  <a:srgbClr val="5C6370"/>
                </a:solidFill>
                <a:latin typeface="Consolas" pitchFamily="34" charset="0"/>
                <a:ea typeface="Consolas" pitchFamily="34" charset="-122"/>
                <a:cs typeface="Consolas" pitchFamily="34" charset="-120"/>
              </a:rPr>
              <a:t># ── ATTENTION ────────────────
</a:t>
            </a:r>
            <a:r>
              <a:rPr lang="en-US" sz="1000" dirty="0">
                <a:solidFill>
                  <a:srgbClr val="ABB2BF"/>
                </a:solidFill>
                <a:latin typeface="Consolas" pitchFamily="34" charset="0"/>
                <a:ea typeface="Consolas" pitchFamily="34" charset="-122"/>
                <a:cs typeface="Consolas" pitchFamily="34" charset="-120"/>
              </a:rPr>
              <a:t>attn = </a:t>
            </a:r>
            <a:r>
              <a:rPr lang="en-US" sz="1000" dirty="0">
                <a:solidFill>
                  <a:srgbClr val="61AFEF"/>
                </a:solidFill>
                <a:latin typeface="Consolas" pitchFamily="34" charset="0"/>
                <a:ea typeface="Consolas" pitchFamily="34" charset="-122"/>
                <a:cs typeface="Consolas" pitchFamily="34" charset="-120"/>
              </a:rPr>
              <a:t>AdditiveAttention</a:t>
            </a:r>
            <a:r>
              <a:rPr lang="en-US" sz="1000" dirty="0">
                <a:solidFill>
                  <a:srgbClr val="ABB2BF"/>
                </a:solidFill>
                <a:latin typeface="Consolas" pitchFamily="34" charset="0"/>
                <a:ea typeface="Consolas" pitchFamily="34" charset="-122"/>
                <a:cs typeface="Consolas" pitchFamily="34" charset="-120"/>
              </a:rPr>
              <a:t>()
ctx = attn([dec_out, enc_out])
merged = </a:t>
            </a:r>
            <a:r>
              <a:rPr lang="en-US" sz="1000" dirty="0">
                <a:solidFill>
                  <a:srgbClr val="61AFEF"/>
                </a:solidFill>
                <a:latin typeface="Consolas" pitchFamily="34" charset="0"/>
                <a:ea typeface="Consolas" pitchFamily="34" charset="-122"/>
                <a:cs typeface="Consolas" pitchFamily="34" charset="-120"/>
              </a:rPr>
              <a:t>Concatenate</a:t>
            </a:r>
            <a:r>
              <a:rPr lang="en-US" sz="1000" dirty="0">
                <a:solidFill>
                  <a:srgbClr val="ABB2BF"/>
                </a:solidFill>
                <a:latin typeface="Consolas" pitchFamily="34" charset="0"/>
                <a:ea typeface="Consolas" pitchFamily="34" charset="-122"/>
                <a:cs typeface="Consolas" pitchFamily="34" charset="-120"/>
              </a:rPr>
              <a:t>(
    axis=-</a:t>
            </a:r>
            <a:r>
              <a:rPr lang="en-US" sz="1000" dirty="0">
                <a:solidFill>
                  <a:srgbClr val="D19A66"/>
                </a:solidFill>
                <a:latin typeface="Consolas" pitchFamily="34" charset="0"/>
                <a:ea typeface="Consolas" pitchFamily="34" charset="-122"/>
                <a:cs typeface="Consolas" pitchFamily="34" charset="-120"/>
              </a:rPr>
              <a:t>1</a:t>
            </a:r>
            <a:r>
              <a:rPr lang="en-US" sz="1000" dirty="0">
                <a:solidFill>
                  <a:srgbClr val="ABB2BF"/>
                </a:solidFill>
                <a:latin typeface="Consolas" pitchFamily="34" charset="0"/>
                <a:ea typeface="Consolas" pitchFamily="34" charset="-122"/>
                <a:cs typeface="Consolas" pitchFamily="34" charset="-120"/>
              </a:rPr>
              <a:t>)([dec_out, ctx])
output = </a:t>
            </a:r>
            <a:r>
              <a:rPr lang="en-US" sz="1000" dirty="0">
                <a:solidFill>
                  <a:srgbClr val="61AFEF"/>
                </a:solidFill>
                <a:latin typeface="Consolas" pitchFamily="34" charset="0"/>
                <a:ea typeface="Consolas" pitchFamily="34" charset="-122"/>
                <a:cs typeface="Consolas" pitchFamily="34" charset="-120"/>
              </a:rPr>
              <a:t>TimeDistributed</a:t>
            </a:r>
            <a:r>
              <a:rPr lang="en-US" sz="1000" dirty="0">
                <a:solidFill>
                  <a:srgbClr val="ABB2BF"/>
                </a:solidFill>
                <a:latin typeface="Consolas" pitchFamily="34" charset="0"/>
                <a:ea typeface="Consolas" pitchFamily="34" charset="-122"/>
                <a:cs typeface="Consolas" pitchFamily="34" charset="-120"/>
              </a:rPr>
              <a:t>(
    Dense(VOCAB_SIZE,
          activation=</a:t>
            </a:r>
            <a:r>
              <a:rPr lang="en-US" sz="1000" dirty="0">
                <a:solidFill>
                  <a:srgbClr val="98C379"/>
                </a:solidFill>
                <a:latin typeface="Consolas" pitchFamily="34" charset="0"/>
                <a:ea typeface="Consolas" pitchFamily="34" charset="-122"/>
                <a:cs typeface="Consolas" pitchFamily="34" charset="-120"/>
              </a:rPr>
              <a:t>'softmax'</a:t>
            </a:r>
            <a:r>
              <a:rPr lang="en-US" sz="1000" dirty="0">
                <a:solidFill>
                  <a:srgbClr val="ABB2BF"/>
                </a:solidFill>
                <a:latin typeface="Consolas" pitchFamily="34" charset="0"/>
                <a:ea typeface="Consolas" pitchFamily="34" charset="-122"/>
                <a:cs typeface="Consolas" pitchFamily="34" charset="-120"/>
              </a:rPr>
              <a:t>))(merged)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457200" y="109728"/>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Training Configuration</a:t>
            </a:r>
            <a:endParaRPr lang="en-US" sz="2400" dirty="0"/>
          </a:p>
        </p:txBody>
      </p:sp>
      <p:sp>
        <p:nvSpPr>
          <p:cNvPr id="4" name="Shape 2"/>
          <p:cNvSpPr/>
          <p:nvPr/>
        </p:nvSpPr>
        <p:spPr>
          <a:xfrm>
            <a:off x="274320" y="1005840"/>
            <a:ext cx="4160520" cy="749808"/>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411480" y="1060704"/>
            <a:ext cx="3977640" cy="27432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Optimizer</a:t>
            </a:r>
            <a:endParaRPr lang="en-US" sz="1100" dirty="0"/>
          </a:p>
        </p:txBody>
      </p:sp>
      <p:sp>
        <p:nvSpPr>
          <p:cNvPr id="6" name="Text 4"/>
          <p:cNvSpPr/>
          <p:nvPr/>
        </p:nvSpPr>
        <p:spPr>
          <a:xfrm>
            <a:off x="411480" y="1335024"/>
            <a:ext cx="3977640" cy="32918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Adam</a:t>
            </a:r>
            <a:endParaRPr lang="en-US" sz="1300" dirty="0"/>
          </a:p>
        </p:txBody>
      </p:sp>
      <p:sp>
        <p:nvSpPr>
          <p:cNvPr id="7" name="Shape 5"/>
          <p:cNvSpPr/>
          <p:nvPr/>
        </p:nvSpPr>
        <p:spPr>
          <a:xfrm>
            <a:off x="4709160" y="1005840"/>
            <a:ext cx="4160520" cy="749808"/>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8" name="Text 6"/>
          <p:cNvSpPr/>
          <p:nvPr/>
        </p:nvSpPr>
        <p:spPr>
          <a:xfrm>
            <a:off x="4846320" y="1060704"/>
            <a:ext cx="3977640" cy="27432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Loss</a:t>
            </a:r>
            <a:endParaRPr lang="en-US" sz="1100" dirty="0"/>
          </a:p>
        </p:txBody>
      </p:sp>
      <p:sp>
        <p:nvSpPr>
          <p:cNvPr id="9" name="Text 7"/>
          <p:cNvSpPr/>
          <p:nvPr/>
        </p:nvSpPr>
        <p:spPr>
          <a:xfrm>
            <a:off x="4846320" y="1335024"/>
            <a:ext cx="3977640" cy="32918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Sparse Categorical Cross-Entropy</a:t>
            </a:r>
            <a:endParaRPr lang="en-US" sz="1300" dirty="0"/>
          </a:p>
        </p:txBody>
      </p:sp>
      <p:sp>
        <p:nvSpPr>
          <p:cNvPr id="10" name="Shape 8"/>
          <p:cNvSpPr/>
          <p:nvPr/>
        </p:nvSpPr>
        <p:spPr>
          <a:xfrm>
            <a:off x="274320" y="1920240"/>
            <a:ext cx="4160520" cy="749808"/>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11" name="Text 9"/>
          <p:cNvSpPr/>
          <p:nvPr/>
        </p:nvSpPr>
        <p:spPr>
          <a:xfrm>
            <a:off x="411480" y="1975104"/>
            <a:ext cx="3977640" cy="27432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Batch Size</a:t>
            </a:r>
            <a:endParaRPr lang="en-US" sz="1100" dirty="0"/>
          </a:p>
        </p:txBody>
      </p:sp>
      <p:sp>
        <p:nvSpPr>
          <p:cNvPr id="12" name="Text 10"/>
          <p:cNvSpPr/>
          <p:nvPr/>
        </p:nvSpPr>
        <p:spPr>
          <a:xfrm>
            <a:off x="411480" y="2249424"/>
            <a:ext cx="3977640" cy="32918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16 (GPU-safe with mixed fp16)</a:t>
            </a:r>
            <a:endParaRPr lang="en-US" sz="1300" dirty="0"/>
          </a:p>
        </p:txBody>
      </p:sp>
      <p:sp>
        <p:nvSpPr>
          <p:cNvPr id="13" name="Shape 11"/>
          <p:cNvSpPr/>
          <p:nvPr/>
        </p:nvSpPr>
        <p:spPr>
          <a:xfrm>
            <a:off x="4709160" y="1920240"/>
            <a:ext cx="4160520" cy="749808"/>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14" name="Text 12"/>
          <p:cNvSpPr/>
          <p:nvPr/>
        </p:nvSpPr>
        <p:spPr>
          <a:xfrm>
            <a:off x="4846320" y="1975104"/>
            <a:ext cx="3977640" cy="27432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Max Epochs</a:t>
            </a:r>
            <a:endParaRPr lang="en-US" sz="1100" dirty="0"/>
          </a:p>
        </p:txBody>
      </p:sp>
      <p:sp>
        <p:nvSpPr>
          <p:cNvPr id="15" name="Text 13"/>
          <p:cNvSpPr/>
          <p:nvPr/>
        </p:nvSpPr>
        <p:spPr>
          <a:xfrm>
            <a:off x="4846320" y="2249424"/>
            <a:ext cx="3977640" cy="32918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8 (EarlyStopping patience = 4)</a:t>
            </a:r>
            <a:endParaRPr lang="en-US" sz="1300" dirty="0"/>
          </a:p>
        </p:txBody>
      </p:sp>
      <p:sp>
        <p:nvSpPr>
          <p:cNvPr id="16" name="Shape 14"/>
          <p:cNvSpPr/>
          <p:nvPr/>
        </p:nvSpPr>
        <p:spPr>
          <a:xfrm>
            <a:off x="274320" y="2834640"/>
            <a:ext cx="4160520" cy="749808"/>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17" name="Text 15"/>
          <p:cNvSpPr/>
          <p:nvPr/>
        </p:nvSpPr>
        <p:spPr>
          <a:xfrm>
            <a:off x="411480" y="2889504"/>
            <a:ext cx="3977640" cy="27432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Input Length</a:t>
            </a:r>
            <a:endParaRPr lang="en-US" sz="1100" dirty="0"/>
          </a:p>
        </p:txBody>
      </p:sp>
      <p:sp>
        <p:nvSpPr>
          <p:cNvPr id="18" name="Text 16"/>
          <p:cNvSpPr/>
          <p:nvPr/>
        </p:nvSpPr>
        <p:spPr>
          <a:xfrm>
            <a:off x="411480" y="3163824"/>
            <a:ext cx="3977640" cy="32918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200 tokens (encoder)</a:t>
            </a:r>
            <a:endParaRPr lang="en-US" sz="1300" dirty="0"/>
          </a:p>
        </p:txBody>
      </p:sp>
      <p:sp>
        <p:nvSpPr>
          <p:cNvPr id="19" name="Shape 17"/>
          <p:cNvSpPr/>
          <p:nvPr/>
        </p:nvSpPr>
        <p:spPr>
          <a:xfrm>
            <a:off x="4709160" y="2834640"/>
            <a:ext cx="4160520" cy="749808"/>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20" name="Text 18"/>
          <p:cNvSpPr/>
          <p:nvPr/>
        </p:nvSpPr>
        <p:spPr>
          <a:xfrm>
            <a:off x="4846320" y="2889504"/>
            <a:ext cx="3977640" cy="27432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Output Length</a:t>
            </a:r>
            <a:endParaRPr lang="en-US" sz="1100" dirty="0"/>
          </a:p>
        </p:txBody>
      </p:sp>
      <p:sp>
        <p:nvSpPr>
          <p:cNvPr id="21" name="Text 19"/>
          <p:cNvSpPr/>
          <p:nvPr/>
        </p:nvSpPr>
        <p:spPr>
          <a:xfrm>
            <a:off x="4846320" y="3163824"/>
            <a:ext cx="3977640" cy="32918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60 tokens (decoder)</a:t>
            </a:r>
            <a:endParaRPr lang="en-US" sz="1300" dirty="0"/>
          </a:p>
        </p:txBody>
      </p:sp>
      <p:sp>
        <p:nvSpPr>
          <p:cNvPr id="22" name="Shape 20"/>
          <p:cNvSpPr/>
          <p:nvPr/>
        </p:nvSpPr>
        <p:spPr>
          <a:xfrm>
            <a:off x="274320" y="3749040"/>
            <a:ext cx="4160520" cy="749808"/>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23" name="Text 21"/>
          <p:cNvSpPr/>
          <p:nvPr/>
        </p:nvSpPr>
        <p:spPr>
          <a:xfrm>
            <a:off x="411480" y="3803904"/>
            <a:ext cx="3977640" cy="27432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LSTM Units</a:t>
            </a:r>
            <a:endParaRPr lang="en-US" sz="1100" dirty="0"/>
          </a:p>
        </p:txBody>
      </p:sp>
      <p:sp>
        <p:nvSpPr>
          <p:cNvPr id="24" name="Text 22"/>
          <p:cNvSpPr/>
          <p:nvPr/>
        </p:nvSpPr>
        <p:spPr>
          <a:xfrm>
            <a:off x="411480" y="4078224"/>
            <a:ext cx="3977640" cy="32918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128 encoder (×2 Bidir) / 256 decoder</a:t>
            </a:r>
            <a:endParaRPr lang="en-US" sz="1300" dirty="0"/>
          </a:p>
        </p:txBody>
      </p:sp>
      <p:sp>
        <p:nvSpPr>
          <p:cNvPr id="25" name="Shape 23"/>
          <p:cNvSpPr/>
          <p:nvPr/>
        </p:nvSpPr>
        <p:spPr>
          <a:xfrm>
            <a:off x="4709160" y="3749040"/>
            <a:ext cx="4160520" cy="749808"/>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26" name="Text 24"/>
          <p:cNvSpPr/>
          <p:nvPr/>
        </p:nvSpPr>
        <p:spPr>
          <a:xfrm>
            <a:off x="4846320" y="3803904"/>
            <a:ext cx="3977640" cy="274320"/>
          </a:xfrm>
          <a:prstGeom prst="rect">
            <a:avLst/>
          </a:prstGeom>
          <a:noFill/>
          <a:ln/>
        </p:spPr>
        <p:txBody>
          <a:bodyPr wrap="square" lIns="0" tIns="0" rIns="0" bIns="0" rtlCol="0" anchor="ctr"/>
          <a:lstStyle/>
          <a:p>
            <a:pPr marL="0" indent="0">
              <a:buNone/>
            </a:pPr>
            <a:r>
              <a:rPr lang="en-US" sz="1100" dirty="0">
                <a:solidFill>
                  <a:srgbClr val="8BAAB8"/>
                </a:solidFill>
                <a:latin typeface="Calibri" pitchFamily="34" charset="0"/>
                <a:ea typeface="Calibri" pitchFamily="34" charset="-122"/>
                <a:cs typeface="Calibri" pitchFamily="34" charset="-120"/>
              </a:rPr>
              <a:t>Precision</a:t>
            </a:r>
            <a:endParaRPr lang="en-US" sz="1100" dirty="0"/>
          </a:p>
        </p:txBody>
      </p:sp>
      <p:sp>
        <p:nvSpPr>
          <p:cNvPr id="27" name="Text 25"/>
          <p:cNvSpPr/>
          <p:nvPr/>
        </p:nvSpPr>
        <p:spPr>
          <a:xfrm>
            <a:off x="4846320" y="4078224"/>
            <a:ext cx="3977640" cy="32918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Mixed Float16 (memory optimisation)</a:t>
            </a:r>
            <a:endParaRPr lang="en-US" sz="1300" dirty="0"/>
          </a:p>
        </p:txBody>
      </p:sp>
      <p:sp>
        <p:nvSpPr>
          <p:cNvPr id="28" name="Shape 26"/>
          <p:cNvSpPr/>
          <p:nvPr/>
        </p:nvSpPr>
        <p:spPr>
          <a:xfrm>
            <a:off x="274320" y="4663440"/>
            <a:ext cx="8549640" cy="347472"/>
          </a:xfrm>
          <a:prstGeom prst="rect">
            <a:avLst/>
          </a:prstGeom>
          <a:solidFill>
            <a:srgbClr val="1B7A8A"/>
          </a:solidFill>
          <a:ln w="12700">
            <a:solidFill>
              <a:srgbClr val="1B7A8A"/>
            </a:solidFill>
            <a:prstDash val="solid"/>
          </a:ln>
        </p:spPr>
        <p:txBody>
          <a:bodyPr/>
          <a:lstStyle/>
          <a:p>
            <a:endParaRPr lang="en-US"/>
          </a:p>
        </p:txBody>
      </p:sp>
      <p:sp>
        <p:nvSpPr>
          <p:cNvPr id="29" name="Text 27"/>
          <p:cNvSpPr/>
          <p:nvPr/>
        </p:nvSpPr>
        <p:spPr>
          <a:xfrm>
            <a:off x="457200" y="4681728"/>
            <a:ext cx="8229600" cy="310896"/>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Callbacks: EarlyStopping · ModelCheckpoint (best val_loss) · ReduceLROnPlateau (factor 0.5) · CSVLogger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2EC4B6"/>
          </a:solidFill>
          <a:ln w="12700">
            <a:solidFill>
              <a:srgbClr val="2EC4B6"/>
            </a:solidFill>
            <a:prstDash val="solid"/>
          </a:ln>
        </p:spPr>
        <p:txBody>
          <a:bodyPr/>
          <a:lstStyle/>
          <a:p>
            <a:endParaRPr lang="en-US"/>
          </a:p>
        </p:txBody>
      </p:sp>
      <p:sp>
        <p:nvSpPr>
          <p:cNvPr id="3" name="Text 1"/>
          <p:cNvSpPr/>
          <p:nvPr/>
        </p:nvSpPr>
        <p:spPr>
          <a:xfrm>
            <a:off x="365760" y="91440"/>
            <a:ext cx="8229600" cy="566928"/>
          </a:xfrm>
          <a:prstGeom prst="rect">
            <a:avLst/>
          </a:prstGeom>
          <a:noFill/>
          <a:ln/>
        </p:spPr>
        <p:txBody>
          <a:bodyPr wrap="square" lIns="0" tIns="0" rIns="0" bIns="0" rtlCol="0" anchor="ctr"/>
          <a:lstStyle/>
          <a:p>
            <a:pPr marL="0" indent="0">
              <a:buNone/>
            </a:pPr>
            <a:r>
              <a:rPr lang="en-US" sz="2000" b="1" dirty="0">
                <a:solidFill>
                  <a:srgbClr val="0D1B2A"/>
                </a:solidFill>
                <a:latin typeface="Georgia" pitchFamily="34" charset="0"/>
                <a:ea typeface="Georgia" pitchFamily="34" charset="-122"/>
                <a:cs typeface="Georgia" pitchFamily="34" charset="-120"/>
              </a:rPr>
              <a:t>Code Spotlight — Inference &amp; Smart Decoding</a:t>
            </a:r>
            <a:endParaRPr lang="en-US" sz="2000" dirty="0"/>
          </a:p>
        </p:txBody>
      </p:sp>
      <p:sp>
        <p:nvSpPr>
          <p:cNvPr id="4" name="Shape 2"/>
          <p:cNvSpPr/>
          <p:nvPr/>
        </p:nvSpPr>
        <p:spPr>
          <a:xfrm>
            <a:off x="274320" y="868680"/>
            <a:ext cx="8595360" cy="4096512"/>
          </a:xfrm>
          <a:prstGeom prst="rect">
            <a:avLst/>
          </a:prstGeom>
          <a:solidFill>
            <a:srgbClr val="1E2D3D"/>
          </a:solidFill>
          <a:ln w="12700">
            <a:solidFill>
              <a:srgbClr val="2A3F55"/>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502920" y="978408"/>
            <a:ext cx="146304" cy="146304"/>
          </a:xfrm>
          <a:prstGeom prst="ellipse">
            <a:avLst/>
          </a:prstGeom>
          <a:solidFill>
            <a:srgbClr val="E06C75"/>
          </a:solidFill>
          <a:ln w="12700">
            <a:solidFill>
              <a:srgbClr val="E06C75"/>
            </a:solidFill>
            <a:prstDash val="solid"/>
          </a:ln>
        </p:spPr>
        <p:txBody>
          <a:bodyPr/>
          <a:lstStyle/>
          <a:p>
            <a:endParaRPr lang="en-US"/>
          </a:p>
        </p:txBody>
      </p:sp>
      <p:sp>
        <p:nvSpPr>
          <p:cNvPr id="6" name="Shape 4"/>
          <p:cNvSpPr/>
          <p:nvPr/>
        </p:nvSpPr>
        <p:spPr>
          <a:xfrm>
            <a:off x="758952" y="978408"/>
            <a:ext cx="146304" cy="146304"/>
          </a:xfrm>
          <a:prstGeom prst="ellipse">
            <a:avLst/>
          </a:prstGeom>
          <a:solidFill>
            <a:srgbClr val="E5C07B"/>
          </a:solidFill>
          <a:ln w="12700">
            <a:solidFill>
              <a:srgbClr val="E5C07B"/>
            </a:solidFill>
            <a:prstDash val="solid"/>
          </a:ln>
        </p:spPr>
        <p:txBody>
          <a:bodyPr/>
          <a:lstStyle/>
          <a:p>
            <a:endParaRPr lang="en-US"/>
          </a:p>
        </p:txBody>
      </p:sp>
      <p:sp>
        <p:nvSpPr>
          <p:cNvPr id="7" name="Shape 5"/>
          <p:cNvSpPr/>
          <p:nvPr/>
        </p:nvSpPr>
        <p:spPr>
          <a:xfrm>
            <a:off x="1014984" y="978408"/>
            <a:ext cx="146304" cy="146304"/>
          </a:xfrm>
          <a:prstGeom prst="ellipse">
            <a:avLst/>
          </a:prstGeom>
          <a:solidFill>
            <a:srgbClr val="98C379"/>
          </a:solidFill>
          <a:ln w="12700">
            <a:solidFill>
              <a:srgbClr val="98C379"/>
            </a:solidFill>
            <a:prstDash val="solid"/>
          </a:ln>
        </p:spPr>
        <p:txBody>
          <a:bodyPr/>
          <a:lstStyle/>
          <a:p>
            <a:endParaRPr lang="en-US"/>
          </a:p>
        </p:txBody>
      </p:sp>
      <p:sp>
        <p:nvSpPr>
          <p:cNvPr id="8" name="Text 6"/>
          <p:cNvSpPr/>
          <p:nvPr/>
        </p:nvSpPr>
        <p:spPr>
          <a:xfrm>
            <a:off x="1280160" y="932688"/>
            <a:ext cx="3657600" cy="237744"/>
          </a:xfrm>
          <a:prstGeom prst="rect">
            <a:avLst/>
          </a:prstGeom>
          <a:noFill/>
          <a:ln/>
        </p:spPr>
        <p:txBody>
          <a:bodyPr wrap="square" lIns="0" tIns="0" rIns="0" bIns="0" rtlCol="0" anchor="ctr"/>
          <a:lstStyle/>
          <a:p>
            <a:pPr marL="0" indent="0">
              <a:buNone/>
            </a:pPr>
            <a:r>
              <a:rPr lang="en-US" sz="900" dirty="0">
                <a:solidFill>
                  <a:srgbClr val="6B8FAE"/>
                </a:solidFill>
                <a:latin typeface="Consolas" pitchFamily="34" charset="0"/>
                <a:ea typeface="Consolas" pitchFamily="34" charset="-122"/>
                <a:cs typeface="Consolas" pitchFamily="34" charset="-120"/>
              </a:rPr>
              <a:t>summarize.py</a:t>
            </a:r>
            <a:endParaRPr lang="en-US" sz="900" dirty="0"/>
          </a:p>
        </p:txBody>
      </p:sp>
      <p:sp>
        <p:nvSpPr>
          <p:cNvPr id="9" name="Text 7"/>
          <p:cNvSpPr/>
          <p:nvPr/>
        </p:nvSpPr>
        <p:spPr>
          <a:xfrm>
            <a:off x="411480" y="1261872"/>
            <a:ext cx="8321040" cy="3566160"/>
          </a:xfrm>
          <a:prstGeom prst="rect">
            <a:avLst/>
          </a:prstGeom>
          <a:noFill/>
          <a:ln/>
        </p:spPr>
        <p:txBody>
          <a:bodyPr wrap="square" rtlCol="0" anchor="ctr"/>
          <a:lstStyle/>
          <a:p>
            <a:pPr marL="0" indent="0">
              <a:buNone/>
            </a:pPr>
            <a:r>
              <a:rPr lang="en-US" sz="1050" dirty="0">
                <a:solidFill>
                  <a:srgbClr val="C678DD"/>
                </a:solidFill>
                <a:latin typeface="Consolas" pitchFamily="34" charset="0"/>
                <a:ea typeface="Consolas" pitchFamily="34" charset="-122"/>
                <a:cs typeface="Consolas" pitchFamily="34" charset="-120"/>
              </a:rPr>
              <a:t>def </a:t>
            </a:r>
            <a:r>
              <a:rPr lang="en-US" sz="1050" dirty="0">
                <a:solidFill>
                  <a:srgbClr val="61AFEF"/>
                </a:solidFill>
                <a:latin typeface="Consolas" pitchFamily="34" charset="0"/>
                <a:ea typeface="Consolas" pitchFamily="34" charset="-122"/>
                <a:cs typeface="Consolas" pitchFamily="34" charset="-120"/>
              </a:rPr>
              <a:t>summarize</a:t>
            </a:r>
            <a:r>
              <a:rPr lang="en-US" sz="1050" dirty="0">
                <a:solidFill>
                  <a:srgbClr val="ABB2BF"/>
                </a:solidFill>
                <a:latin typeface="Consolas" pitchFamily="34" charset="0"/>
                <a:ea typeface="Consolas" pitchFamily="34" charset="-122"/>
                <a:cs typeface="Consolas" pitchFamily="34" charset="-120"/>
              </a:rPr>
              <a:t>(input_text, temperature=</a:t>
            </a:r>
            <a:r>
              <a:rPr lang="en-US" sz="1050" dirty="0">
                <a:solidFill>
                  <a:srgbClr val="D19A66"/>
                </a:solidFill>
                <a:latin typeface="Consolas" pitchFamily="34" charset="0"/>
                <a:ea typeface="Consolas" pitchFamily="34" charset="-122"/>
                <a:cs typeface="Consolas" pitchFamily="34" charset="-120"/>
              </a:rPr>
              <a:t>0.5</a:t>
            </a:r>
            <a:r>
              <a:rPr lang="en-US" sz="1050" dirty="0">
                <a:solidFill>
                  <a:srgbClr val="ABB2BF"/>
                </a:solidFill>
                <a:latin typeface="Consolas" pitchFamily="34" charset="0"/>
                <a:ea typeface="Consolas" pitchFamily="34" charset="-122"/>
                <a:cs typeface="Consolas" pitchFamily="34" charset="-120"/>
              </a:rPr>
              <a:t>, penalty_window=</a:t>
            </a:r>
            <a:r>
              <a:rPr lang="en-US" sz="1050" dirty="0">
                <a:solidFill>
                  <a:srgbClr val="D19A66"/>
                </a:solidFill>
                <a:latin typeface="Consolas" pitchFamily="34" charset="0"/>
                <a:ea typeface="Consolas" pitchFamily="34" charset="-122"/>
                <a:cs typeface="Consolas" pitchFamily="34" charset="-120"/>
              </a:rPr>
              <a:t>4</a:t>
            </a:r>
            <a:r>
              <a:rPr lang="en-US" sz="1050" dirty="0">
                <a:solidFill>
                  <a:srgbClr val="ABB2BF"/>
                </a:solidFill>
                <a:latin typeface="Consolas" pitchFamily="34" charset="0"/>
                <a:ea typeface="Consolas" pitchFamily="34" charset="-122"/>
                <a:cs typeface="Consolas" pitchFamily="34" charset="-120"/>
              </a:rPr>
              <a:t>):
    input_seq = tokenizer.encode(clean_arabic_text(input_text),
        max_length=MAX_TEXT_LEN, truncation=</a:t>
            </a:r>
            <a:r>
              <a:rPr lang="en-US" sz="1050" dirty="0">
                <a:solidFill>
                  <a:srgbClr val="C678DD"/>
                </a:solidFill>
                <a:latin typeface="Consolas" pitchFamily="34" charset="0"/>
                <a:ea typeface="Consolas" pitchFamily="34" charset="-122"/>
                <a:cs typeface="Consolas" pitchFamily="34" charset="-120"/>
              </a:rPr>
              <a:t>True</a:t>
            </a:r>
            <a:r>
              <a:rPr lang="en-US" sz="1050" dirty="0">
                <a:solidFill>
                  <a:srgbClr val="ABB2BF"/>
                </a:solidFill>
                <a:latin typeface="Consolas" pitchFamily="34" charset="0"/>
                <a:ea typeface="Consolas" pitchFamily="34" charset="-122"/>
                <a:cs typeface="Consolas" pitchFamily="34" charset="-120"/>
              </a:rPr>
              <a:t>, padding=</a:t>
            </a:r>
            <a:r>
              <a:rPr lang="en-US" sz="1050" dirty="0">
                <a:solidFill>
                  <a:srgbClr val="98C379"/>
                </a:solidFill>
                <a:latin typeface="Consolas" pitchFamily="34" charset="0"/>
                <a:ea typeface="Consolas" pitchFamily="34" charset="-122"/>
                <a:cs typeface="Consolas" pitchFamily="34" charset="-120"/>
              </a:rPr>
              <a:t>'max_length'</a:t>
            </a:r>
            <a:r>
              <a:rPr lang="en-US" sz="1050" dirty="0">
                <a:solidFill>
                  <a:srgbClr val="ABB2BF"/>
                </a:solidFill>
                <a:latin typeface="Consolas" pitchFamily="34" charset="0"/>
                <a:ea typeface="Consolas" pitchFamily="34" charset="-122"/>
                <a:cs typeface="Consolas" pitchFamily="34" charset="-120"/>
              </a:rPr>
              <a:t>)
    enc_outs, h, c = encoder_model.predict([input_seq])
    target_seq = np.array([[tokenizer.cls_token_id]])  </a:t>
            </a:r>
            <a:r>
              <a:rPr lang="en-US" sz="1050" i="1" dirty="0">
                <a:solidFill>
                  <a:srgbClr val="5C6370"/>
                </a:solidFill>
                <a:latin typeface="Consolas" pitchFamily="34" charset="0"/>
                <a:ea typeface="Consolas" pitchFamily="34" charset="-122"/>
                <a:cs typeface="Consolas" pitchFamily="34" charset="-120"/>
              </a:rPr>
              <a:t># &lt;CLS&gt; start token
</a:t>
            </a:r>
            <a:r>
              <a:rPr lang="en-US" sz="1050" dirty="0">
                <a:solidFill>
                  <a:srgbClr val="ABB2BF"/>
                </a:solidFill>
                <a:latin typeface="Consolas" pitchFamily="34" charset="0"/>
                <a:ea typeface="Consolas" pitchFamily="34" charset="-122"/>
                <a:cs typeface="Consolas" pitchFamily="34" charset="-120"/>
              </a:rPr>
              <a:t>    decoded, decoded_ids = [], []
</a:t>
            </a:r>
            <a:r>
              <a:rPr lang="en-US" sz="1050" dirty="0">
                <a:solidFill>
                  <a:srgbClr val="C678DD"/>
                </a:solidFill>
                <a:latin typeface="Consolas" pitchFamily="34" charset="0"/>
                <a:ea typeface="Consolas" pitchFamily="34" charset="-122"/>
                <a:cs typeface="Consolas" pitchFamily="34" charset="-120"/>
              </a:rPr>
              <a:t>    for </a:t>
            </a:r>
            <a:r>
              <a:rPr lang="en-US" sz="1050" dirty="0">
                <a:solidFill>
                  <a:srgbClr val="ABB2BF"/>
                </a:solidFill>
                <a:latin typeface="Consolas" pitchFamily="34" charset="0"/>
                <a:ea typeface="Consolas" pitchFamily="34" charset="-122"/>
                <a:cs typeface="Consolas" pitchFamily="34" charset="-120"/>
              </a:rPr>
              <a:t>_ </a:t>
            </a:r>
            <a:r>
              <a:rPr lang="en-US" sz="1050" dirty="0">
                <a:solidFill>
                  <a:srgbClr val="C678DD"/>
                </a:solidFill>
                <a:latin typeface="Consolas" pitchFamily="34" charset="0"/>
                <a:ea typeface="Consolas" pitchFamily="34" charset="-122"/>
                <a:cs typeface="Consolas" pitchFamily="34" charset="-120"/>
              </a:rPr>
              <a:t>in </a:t>
            </a:r>
            <a:r>
              <a:rPr lang="en-US" sz="1050" dirty="0">
                <a:solidFill>
                  <a:srgbClr val="61AFEF"/>
                </a:solidFill>
                <a:latin typeface="Consolas" pitchFamily="34" charset="0"/>
                <a:ea typeface="Consolas" pitchFamily="34" charset="-122"/>
                <a:cs typeface="Consolas" pitchFamily="34" charset="-120"/>
              </a:rPr>
              <a:t>range</a:t>
            </a:r>
            <a:r>
              <a:rPr lang="en-US" sz="1050" dirty="0">
                <a:solidFill>
                  <a:srgbClr val="ABB2BF"/>
                </a:solidFill>
                <a:latin typeface="Consolas" pitchFamily="34" charset="0"/>
                <a:ea typeface="Consolas" pitchFamily="34" charset="-122"/>
                <a:cs typeface="Consolas" pitchFamily="34" charset="-120"/>
              </a:rPr>
              <a:t>(MAX_TARGET_LEN):
        preds, h, c = decoder_model.predict([target_seq, enc_outs, h, c, input_seq])
        preds = preds[</a:t>
            </a:r>
            <a:r>
              <a:rPr lang="en-US" sz="1050" dirty="0">
                <a:solidFill>
                  <a:srgbClr val="D19A66"/>
                </a:solidFill>
                <a:latin typeface="Consolas" pitchFamily="34" charset="0"/>
                <a:ea typeface="Consolas" pitchFamily="34" charset="-122"/>
                <a:cs typeface="Consolas" pitchFamily="34" charset="-120"/>
              </a:rPr>
              <a:t>0</a:t>
            </a:r>
            <a:r>
              <a:rPr lang="en-US" sz="1050" dirty="0">
                <a:solidFill>
                  <a:srgbClr val="ABB2BF"/>
                </a:solidFill>
                <a:latin typeface="Consolas" pitchFamily="34" charset="0"/>
                <a:ea typeface="Consolas" pitchFamily="34" charset="-122"/>
                <a:cs typeface="Consolas" pitchFamily="34" charset="-120"/>
              </a:rPr>
              <a:t>, </a:t>
            </a:r>
            <a:r>
              <a:rPr lang="en-US" sz="1050" dirty="0">
                <a:solidFill>
                  <a:srgbClr val="D19A66"/>
                </a:solidFill>
                <a:latin typeface="Consolas" pitchFamily="34" charset="0"/>
                <a:ea typeface="Consolas" pitchFamily="34" charset="-122"/>
                <a:cs typeface="Consolas" pitchFamily="34" charset="-120"/>
              </a:rPr>
              <a:t>0</a:t>
            </a:r>
            <a:r>
              <a:rPr lang="en-US" sz="1050" dirty="0">
                <a:solidFill>
                  <a:srgbClr val="ABB2BF"/>
                </a:solidFill>
                <a:latin typeface="Consolas" pitchFamily="34" charset="0"/>
                <a:ea typeface="Consolas" pitchFamily="34" charset="-122"/>
                <a:cs typeface="Consolas" pitchFamily="34" charset="-120"/>
              </a:rPr>
              <a:t>, :]  </a:t>
            </a:r>
            <a:r>
              <a:rPr lang="en-US" sz="1050" i="1" dirty="0">
                <a:solidFill>
                  <a:srgbClr val="5C6370"/>
                </a:solidFill>
                <a:latin typeface="Consolas" pitchFamily="34" charset="0"/>
                <a:ea typeface="Consolas" pitchFamily="34" charset="-122"/>
                <a:cs typeface="Consolas" pitchFamily="34" charset="-120"/>
              </a:rPr>
              <a:t># vocab distribution
</a:t>
            </a:r>
            <a:r>
              <a:rPr lang="en-US" sz="1050" dirty="0">
                <a:solidFill>
                  <a:srgbClr val="C678DD"/>
                </a:solidFill>
                <a:latin typeface="Consolas" pitchFamily="34" charset="0"/>
                <a:ea typeface="Consolas" pitchFamily="34" charset="-122"/>
                <a:cs typeface="Consolas" pitchFamily="34" charset="-120"/>
              </a:rPr>
              <a:t>        for </a:t>
            </a:r>
            <a:r>
              <a:rPr lang="en-US" sz="1050" dirty="0">
                <a:solidFill>
                  <a:srgbClr val="ABB2BF"/>
                </a:solidFill>
                <a:latin typeface="Consolas" pitchFamily="34" charset="0"/>
                <a:ea typeface="Consolas" pitchFamily="34" charset="-122"/>
                <a:cs typeface="Consolas" pitchFamily="34" charset="-120"/>
              </a:rPr>
              <a:t>past_id </a:t>
            </a:r>
            <a:r>
              <a:rPr lang="en-US" sz="1050" dirty="0">
                <a:solidFill>
                  <a:srgbClr val="C678DD"/>
                </a:solidFill>
                <a:latin typeface="Consolas" pitchFamily="34" charset="0"/>
                <a:ea typeface="Consolas" pitchFamily="34" charset="-122"/>
                <a:cs typeface="Consolas" pitchFamily="34" charset="-120"/>
              </a:rPr>
              <a:t>in </a:t>
            </a:r>
            <a:r>
              <a:rPr lang="en-US" sz="1050" dirty="0">
                <a:solidFill>
                  <a:srgbClr val="ABB2BF"/>
                </a:solidFill>
                <a:latin typeface="Consolas" pitchFamily="34" charset="0"/>
                <a:ea typeface="Consolas" pitchFamily="34" charset="-122"/>
                <a:cs typeface="Consolas" pitchFamily="34" charset="-120"/>
              </a:rPr>
              <a:t>decoded_ids[-penalty_window:]:
            preds[past_id] *= </a:t>
            </a:r>
            <a:r>
              <a:rPr lang="en-US" sz="1050" dirty="0">
                <a:solidFill>
                  <a:srgbClr val="D19A66"/>
                </a:solidFill>
                <a:latin typeface="Consolas" pitchFamily="34" charset="0"/>
                <a:ea typeface="Consolas" pitchFamily="34" charset="-122"/>
                <a:cs typeface="Consolas" pitchFamily="34" charset="-120"/>
              </a:rPr>
              <a:t>0.01</a:t>
            </a:r>
            <a:r>
              <a:rPr lang="en-US" sz="1050" dirty="0">
                <a:solidFill>
                  <a:srgbClr val="ABB2BF"/>
                </a:solidFill>
                <a:latin typeface="Consolas" pitchFamily="34" charset="0"/>
                <a:ea typeface="Consolas" pitchFamily="34" charset="-122"/>
                <a:cs typeface="Consolas" pitchFamily="34" charset="-120"/>
              </a:rPr>
              <a:t>  </a:t>
            </a:r>
            <a:r>
              <a:rPr lang="en-US" sz="1050" i="1" dirty="0">
                <a:solidFill>
                  <a:srgbClr val="5C6370"/>
                </a:solidFill>
                <a:latin typeface="Consolas" pitchFamily="34" charset="0"/>
                <a:ea typeface="Consolas" pitchFamily="34" charset="-122"/>
                <a:cs typeface="Consolas" pitchFamily="34" charset="-120"/>
              </a:rPr>
              <a:t># repetition penalty
</a:t>
            </a:r>
            <a:r>
              <a:rPr lang="en-US" sz="1050" dirty="0">
                <a:solidFill>
                  <a:srgbClr val="ABB2BF"/>
                </a:solidFill>
                <a:latin typeface="Consolas" pitchFamily="34" charset="0"/>
                <a:ea typeface="Consolas" pitchFamily="34" charset="-122"/>
                <a:cs typeface="Consolas" pitchFamily="34" charset="-120"/>
              </a:rPr>
              <a:t>        token_id = sample_with_temperature(preds, temperature)
</a:t>
            </a:r>
            <a:r>
              <a:rPr lang="en-US" sz="1050" dirty="0">
                <a:solidFill>
                  <a:srgbClr val="C678DD"/>
                </a:solidFill>
                <a:latin typeface="Consolas" pitchFamily="34" charset="0"/>
                <a:ea typeface="Consolas" pitchFamily="34" charset="-122"/>
                <a:cs typeface="Consolas" pitchFamily="34" charset="-120"/>
              </a:rPr>
              <a:t>        if </a:t>
            </a:r>
            <a:r>
              <a:rPr lang="en-US" sz="1050" dirty="0">
                <a:solidFill>
                  <a:srgbClr val="ABB2BF"/>
                </a:solidFill>
                <a:latin typeface="Consolas" pitchFamily="34" charset="0"/>
                <a:ea typeface="Consolas" pitchFamily="34" charset="-122"/>
                <a:cs typeface="Consolas" pitchFamily="34" charset="-120"/>
              </a:rPr>
              <a:t>token_id == tokenizer.sep_token_id: </a:t>
            </a:r>
            <a:r>
              <a:rPr lang="en-US" sz="1050" dirty="0">
                <a:solidFill>
                  <a:srgbClr val="C678DD"/>
                </a:solidFill>
                <a:latin typeface="Consolas" pitchFamily="34" charset="0"/>
                <a:ea typeface="Consolas" pitchFamily="34" charset="-122"/>
                <a:cs typeface="Consolas" pitchFamily="34" charset="-120"/>
              </a:rPr>
              <a:t>break
</a:t>
            </a:r>
            <a:r>
              <a:rPr lang="en-US" sz="1050" dirty="0">
                <a:solidFill>
                  <a:srgbClr val="ABB2BF"/>
                </a:solidFill>
                <a:latin typeface="Consolas" pitchFamily="34" charset="0"/>
                <a:ea typeface="Consolas" pitchFamily="34" charset="-122"/>
                <a:cs typeface="Consolas" pitchFamily="34" charset="-120"/>
              </a:rPr>
              <a:t>        decoded.append(tokenizer.decode([token_id]))
</a:t>
            </a:r>
            <a:r>
              <a:rPr lang="en-US" sz="1050" dirty="0">
                <a:solidFill>
                  <a:srgbClr val="C678DD"/>
                </a:solidFill>
                <a:latin typeface="Consolas" pitchFamily="34" charset="0"/>
                <a:ea typeface="Consolas" pitchFamily="34" charset="-122"/>
                <a:cs typeface="Consolas" pitchFamily="34" charset="-120"/>
              </a:rPr>
              <a:t>    return </a:t>
            </a:r>
            <a:r>
              <a:rPr lang="en-US" sz="1050" dirty="0">
                <a:solidFill>
                  <a:srgbClr val="ABB2BF"/>
                </a:solidFill>
                <a:latin typeface="Consolas" pitchFamily="34" charset="0"/>
                <a:ea typeface="Consolas" pitchFamily="34" charset="-122"/>
                <a:cs typeface="Consolas" pitchFamily="34" charset="-120"/>
              </a:rPr>
              <a:t>' '.join(decoded).replace(</a:t>
            </a:r>
            <a:r>
              <a:rPr lang="en-US" sz="1050" dirty="0">
                <a:solidFill>
                  <a:srgbClr val="98C379"/>
                </a:solidFill>
                <a:latin typeface="Consolas" pitchFamily="34" charset="0"/>
                <a:ea typeface="Consolas" pitchFamily="34" charset="-122"/>
                <a:cs typeface="Consolas" pitchFamily="34" charset="-120"/>
              </a:rPr>
              <a:t>' ##'</a:t>
            </a:r>
            <a:r>
              <a:rPr lang="en-US" sz="1050" dirty="0">
                <a:solidFill>
                  <a:srgbClr val="ABB2BF"/>
                </a:solidFill>
                <a:latin typeface="Consolas" pitchFamily="34" charset="0"/>
                <a:ea typeface="Consolas" pitchFamily="34" charset="-122"/>
                <a:cs typeface="Consolas" pitchFamily="34" charset="-120"/>
              </a:rPr>
              <a:t>, </a:t>
            </a:r>
            <a:r>
              <a:rPr lang="en-US" sz="1050" dirty="0">
                <a:solidFill>
                  <a:srgbClr val="98C379"/>
                </a:solidFill>
                <a:latin typeface="Consolas" pitchFamily="34" charset="0"/>
                <a:ea typeface="Consolas" pitchFamily="34" charset="-122"/>
                <a:cs typeface="Consolas" pitchFamily="34" charset="-120"/>
              </a:rPr>
              <a:t>''</a:t>
            </a:r>
            <a:r>
              <a:rPr lang="en-US" sz="1050" dirty="0">
                <a:solidFill>
                  <a:srgbClr val="ABB2BF"/>
                </a:solidFill>
                <a:latin typeface="Consolas" pitchFamily="34" charset="0"/>
                <a:ea typeface="Consolas" pitchFamily="34" charset="-122"/>
                <a:cs typeface="Consolas" pitchFamily="34" charset="-120"/>
              </a:rPr>
              <a:t>)</a:t>
            </a:r>
            <a:endParaRPr lang="en-US" sz="1050" dirty="0"/>
          </a:p>
        </p:txBody>
      </p:sp>
      <p:sp>
        <p:nvSpPr>
          <p:cNvPr id="10" name="Shape 8"/>
          <p:cNvSpPr/>
          <p:nvPr/>
        </p:nvSpPr>
        <p:spPr>
          <a:xfrm>
            <a:off x="320040" y="4663440"/>
            <a:ext cx="2834640" cy="347472"/>
          </a:xfrm>
          <a:prstGeom prst="roundRect">
            <a:avLst>
              <a:gd name="adj" fmla="val 13158"/>
            </a:avLst>
          </a:prstGeom>
          <a:solidFill>
            <a:srgbClr val="C678DD">
              <a:alpha val="70000"/>
            </a:srgbClr>
          </a:solidFill>
          <a:ln w="12700">
            <a:solidFill>
              <a:srgbClr val="C678DD"/>
            </a:solidFill>
            <a:prstDash val="solid"/>
          </a:ln>
        </p:spPr>
        <p:txBody>
          <a:bodyPr/>
          <a:lstStyle/>
          <a:p>
            <a:endParaRPr lang="en-US"/>
          </a:p>
        </p:txBody>
      </p:sp>
      <p:sp>
        <p:nvSpPr>
          <p:cNvPr id="11" name="Text 9"/>
          <p:cNvSpPr/>
          <p:nvPr/>
        </p:nvSpPr>
        <p:spPr>
          <a:xfrm>
            <a:off x="320040" y="4663440"/>
            <a:ext cx="283464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Temperature: controls randomness</a:t>
            </a:r>
            <a:endParaRPr lang="en-US" sz="950" dirty="0"/>
          </a:p>
        </p:txBody>
      </p:sp>
      <p:sp>
        <p:nvSpPr>
          <p:cNvPr id="12" name="Shape 10"/>
          <p:cNvSpPr/>
          <p:nvPr/>
        </p:nvSpPr>
        <p:spPr>
          <a:xfrm>
            <a:off x="3291840" y="4663440"/>
            <a:ext cx="2834640" cy="347472"/>
          </a:xfrm>
          <a:prstGeom prst="roundRect">
            <a:avLst>
              <a:gd name="adj" fmla="val 13158"/>
            </a:avLst>
          </a:prstGeom>
          <a:solidFill>
            <a:srgbClr val="E5C07B">
              <a:alpha val="70000"/>
            </a:srgbClr>
          </a:solidFill>
          <a:ln w="12700">
            <a:solidFill>
              <a:srgbClr val="E5C07B"/>
            </a:solidFill>
            <a:prstDash val="solid"/>
          </a:ln>
        </p:spPr>
        <p:txBody>
          <a:bodyPr/>
          <a:lstStyle/>
          <a:p>
            <a:endParaRPr lang="en-US"/>
          </a:p>
        </p:txBody>
      </p:sp>
      <p:sp>
        <p:nvSpPr>
          <p:cNvPr id="13" name="Text 11"/>
          <p:cNvSpPr/>
          <p:nvPr/>
        </p:nvSpPr>
        <p:spPr>
          <a:xfrm>
            <a:off x="3291840" y="4663440"/>
            <a:ext cx="283464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Repetition penalty: blocks repeated tokens</a:t>
            </a:r>
            <a:endParaRPr lang="en-US" sz="950" dirty="0"/>
          </a:p>
        </p:txBody>
      </p:sp>
      <p:sp>
        <p:nvSpPr>
          <p:cNvPr id="14" name="Shape 12"/>
          <p:cNvSpPr/>
          <p:nvPr/>
        </p:nvSpPr>
        <p:spPr>
          <a:xfrm>
            <a:off x="6263640" y="4663440"/>
            <a:ext cx="2834640" cy="347472"/>
          </a:xfrm>
          <a:prstGeom prst="roundRect">
            <a:avLst>
              <a:gd name="adj" fmla="val 13158"/>
            </a:avLst>
          </a:prstGeom>
          <a:solidFill>
            <a:srgbClr val="98C379">
              <a:alpha val="70000"/>
            </a:srgbClr>
          </a:solidFill>
          <a:ln w="12700">
            <a:solidFill>
              <a:srgbClr val="98C379"/>
            </a:solidFill>
            <a:prstDash val="solid"/>
          </a:ln>
        </p:spPr>
        <p:txBody>
          <a:bodyPr/>
          <a:lstStyle/>
          <a:p>
            <a:endParaRPr lang="en-US"/>
          </a:p>
        </p:txBody>
      </p:sp>
      <p:sp>
        <p:nvSpPr>
          <p:cNvPr id="15" name="Text 13"/>
          <p:cNvSpPr/>
          <p:nvPr/>
        </p:nvSpPr>
        <p:spPr>
          <a:xfrm>
            <a:off x="6263640" y="4663440"/>
            <a:ext cx="283464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Stops at [SEP] or max length</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457200" y="109728"/>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Sample Summaries — Qualitative Analysis</a:t>
            </a:r>
            <a:endParaRPr lang="en-US" sz="2400" dirty="0"/>
          </a:p>
        </p:txBody>
      </p:sp>
      <p:sp>
        <p:nvSpPr>
          <p:cNvPr id="4" name="Text 2"/>
          <p:cNvSpPr/>
          <p:nvPr/>
        </p:nvSpPr>
        <p:spPr>
          <a:xfrm>
            <a:off x="365760" y="896112"/>
            <a:ext cx="8412480" cy="320040"/>
          </a:xfrm>
          <a:prstGeom prst="rect">
            <a:avLst/>
          </a:prstGeom>
          <a:noFill/>
          <a:ln/>
        </p:spPr>
        <p:txBody>
          <a:bodyPr wrap="square" lIns="91440" tIns="45720" rIns="91440" bIns="45720" rtlCol="0" anchor="ctr"/>
          <a:lstStyle/>
          <a:p>
            <a:pPr marL="0" indent="0">
              <a:buNone/>
            </a:pPr>
            <a:endParaRPr lang="en-US" sz="1200" i="1" dirty="0">
              <a:solidFill>
                <a:srgbClr val="1B7A8A"/>
              </a:solidFill>
              <a:ea typeface="Calibri"/>
              <a:cs typeface="Calibri"/>
            </a:endParaRPr>
          </a:p>
        </p:txBody>
      </p:sp>
      <p:sp>
        <p:nvSpPr>
          <p:cNvPr id="5" name="Shape 3"/>
          <p:cNvSpPr/>
          <p:nvPr/>
        </p:nvSpPr>
        <p:spPr>
          <a:xfrm>
            <a:off x="274320" y="1234440"/>
            <a:ext cx="8549640" cy="173736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74320" y="1234440"/>
            <a:ext cx="64008" cy="1737360"/>
          </a:xfrm>
          <a:prstGeom prst="rect">
            <a:avLst/>
          </a:prstGeom>
          <a:solidFill>
            <a:srgbClr val="1B7A8A"/>
          </a:solidFill>
          <a:ln w="12700">
            <a:solidFill>
              <a:srgbClr val="1B7A8A"/>
            </a:solidFill>
            <a:prstDash val="solid"/>
          </a:ln>
        </p:spPr>
        <p:txBody>
          <a:bodyPr/>
          <a:lstStyle/>
          <a:p>
            <a:endParaRPr lang="en-US"/>
          </a:p>
        </p:txBody>
      </p:sp>
      <p:sp>
        <p:nvSpPr>
          <p:cNvPr id="7" name="Text 5"/>
          <p:cNvSpPr/>
          <p:nvPr/>
        </p:nvSpPr>
        <p:spPr>
          <a:xfrm>
            <a:off x="457200" y="1298448"/>
            <a:ext cx="1828800" cy="292608"/>
          </a:xfrm>
          <a:prstGeom prst="rect">
            <a:avLst/>
          </a:prstGeom>
          <a:noFill/>
          <a:ln/>
        </p:spPr>
        <p:txBody>
          <a:bodyPr wrap="square" lIns="0" tIns="0" rIns="0" bIns="0" rtlCol="0" anchor="ctr"/>
          <a:lstStyle/>
          <a:p>
            <a:pPr marL="0" indent="0">
              <a:buNone/>
            </a:pPr>
            <a:r>
              <a:rPr lang="en-US" sz="1200" b="1" dirty="0">
                <a:solidFill>
                  <a:srgbClr val="1B7A8A"/>
                </a:solidFill>
                <a:latin typeface="Calibri" pitchFamily="34" charset="0"/>
                <a:ea typeface="Calibri" pitchFamily="34" charset="-122"/>
                <a:cs typeface="Calibri" pitchFamily="34" charset="-120"/>
              </a:rPr>
              <a:t>Example 1</a:t>
            </a:r>
            <a:endParaRPr lang="en-US" sz="1200" dirty="0"/>
          </a:p>
        </p:txBody>
      </p:sp>
      <p:sp>
        <p:nvSpPr>
          <p:cNvPr id="8" name="Text 6"/>
          <p:cNvSpPr/>
          <p:nvPr/>
        </p:nvSpPr>
        <p:spPr>
          <a:xfrm>
            <a:off x="457200" y="1609344"/>
            <a:ext cx="20116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Article (truncated):</a:t>
            </a:r>
            <a:endParaRPr lang="en-US" sz="1100" dirty="0"/>
          </a:p>
        </p:txBody>
      </p:sp>
      <p:sp>
        <p:nvSpPr>
          <p:cNvPr id="9" name="Text 7"/>
          <p:cNvSpPr/>
          <p:nvPr/>
        </p:nvSpPr>
        <p:spPr>
          <a:xfrm>
            <a:off x="1715966" y="1235672"/>
            <a:ext cx="6925114" cy="647992"/>
          </a:xfrm>
          <a:prstGeom prst="rect">
            <a:avLst/>
          </a:prstGeom>
          <a:noFill/>
          <a:ln/>
        </p:spPr>
        <p:txBody>
          <a:bodyPr wrap="square" lIns="0" tIns="0" rIns="0" bIns="0" rtlCol="0" anchor="ctr"/>
          <a:lstStyle/>
          <a:p>
            <a:pPr algn="r"/>
            <a:r>
              <a:rPr lang="en-US" sz="1100" dirty="0" err="1">
                <a:latin typeface="Consolas"/>
                <a:ea typeface="Calibri"/>
                <a:cs typeface="Calibri"/>
              </a:rPr>
              <a:t>اسفر</a:t>
            </a:r>
            <a:r>
              <a:rPr lang="en-US" sz="1100" dirty="0">
                <a:latin typeface="Consolas"/>
                <a:ea typeface="Calibri"/>
                <a:cs typeface="Calibri"/>
              </a:rPr>
              <a:t> </a:t>
            </a:r>
            <a:r>
              <a:rPr lang="en-US" sz="1100" dirty="0" err="1">
                <a:latin typeface="Consolas"/>
                <a:ea typeface="Calibri"/>
                <a:cs typeface="Calibri"/>
              </a:rPr>
              <a:t>حادث</a:t>
            </a:r>
            <a:r>
              <a:rPr lang="en-US" sz="1100" dirty="0">
                <a:latin typeface="Consolas"/>
                <a:ea typeface="Calibri"/>
                <a:cs typeface="Calibri"/>
              </a:rPr>
              <a:t> </a:t>
            </a:r>
            <a:r>
              <a:rPr lang="en-US" sz="1100" dirty="0" err="1">
                <a:latin typeface="Consolas"/>
                <a:ea typeface="Calibri"/>
                <a:cs typeface="Calibri"/>
              </a:rPr>
              <a:t>اصطدام</a:t>
            </a:r>
            <a:r>
              <a:rPr lang="en-US" sz="1100" dirty="0">
                <a:latin typeface="Consolas"/>
                <a:ea typeface="Calibri"/>
                <a:cs typeface="Calibri"/>
              </a:rPr>
              <a:t> </a:t>
            </a:r>
            <a:r>
              <a:rPr lang="en-US" sz="1100" dirty="0" err="1">
                <a:latin typeface="Consolas"/>
                <a:ea typeface="Calibri"/>
                <a:cs typeface="Calibri"/>
              </a:rPr>
              <a:t>حافله</a:t>
            </a:r>
            <a:r>
              <a:rPr lang="en-US" sz="1100" dirty="0">
                <a:latin typeface="Consolas"/>
                <a:ea typeface="Calibri"/>
                <a:cs typeface="Calibri"/>
              </a:rPr>
              <a:t> </a:t>
            </a:r>
            <a:r>
              <a:rPr lang="en-US" sz="1100" dirty="0" err="1">
                <a:latin typeface="Consolas"/>
                <a:ea typeface="Calibri"/>
                <a:cs typeface="Calibri"/>
              </a:rPr>
              <a:t>بحشد</a:t>
            </a:r>
            <a:r>
              <a:rPr lang="en-US" sz="1100" dirty="0">
                <a:latin typeface="Consolas"/>
                <a:ea typeface="Calibri"/>
                <a:cs typeface="Calibri"/>
              </a:rPr>
              <a:t> </a:t>
            </a:r>
            <a:r>
              <a:rPr lang="en-US" sz="1100" dirty="0" err="1">
                <a:latin typeface="Consolas"/>
                <a:ea typeface="Calibri"/>
                <a:cs typeface="Calibri"/>
              </a:rPr>
              <a:t>هايتي</a:t>
            </a:r>
            <a:r>
              <a:rPr lang="en-US" sz="1100" dirty="0">
                <a:latin typeface="Consolas"/>
                <a:ea typeface="Calibri"/>
                <a:cs typeface="Calibri"/>
              </a:rPr>
              <a:t> </a:t>
            </a:r>
            <a:r>
              <a:rPr lang="en-US" sz="1100" dirty="0" err="1">
                <a:latin typeface="Consolas"/>
                <a:ea typeface="Calibri"/>
                <a:cs typeface="Calibri"/>
              </a:rPr>
              <a:t>يوم</a:t>
            </a:r>
            <a:r>
              <a:rPr lang="en-US" sz="1100" dirty="0">
                <a:latin typeface="Consolas"/>
                <a:ea typeface="Calibri"/>
                <a:cs typeface="Calibri"/>
              </a:rPr>
              <a:t> </a:t>
            </a:r>
            <a:r>
              <a:rPr lang="en-US" sz="1100" dirty="0" err="1">
                <a:latin typeface="Consolas"/>
                <a:ea typeface="Calibri"/>
                <a:cs typeface="Calibri"/>
              </a:rPr>
              <a:t>الاحد</a:t>
            </a:r>
            <a:r>
              <a:rPr lang="en-US" sz="1100" dirty="0">
                <a:latin typeface="Consolas"/>
                <a:ea typeface="Calibri"/>
                <a:cs typeface="Calibri"/>
              </a:rPr>
              <a:t> </a:t>
            </a:r>
            <a:r>
              <a:rPr lang="en-US" sz="1100" dirty="0" err="1">
                <a:latin typeface="Consolas"/>
                <a:ea typeface="Calibri"/>
                <a:cs typeface="Calibri"/>
              </a:rPr>
              <a:t>مقتل</a:t>
            </a:r>
            <a:r>
              <a:rPr lang="en-US" sz="1100" dirty="0">
                <a:latin typeface="Consolas"/>
                <a:ea typeface="Calibri"/>
                <a:cs typeface="Calibri"/>
              </a:rPr>
              <a:t> </a:t>
            </a:r>
            <a:r>
              <a:rPr lang="en-US" sz="1100" dirty="0" err="1">
                <a:latin typeface="Consolas"/>
                <a:ea typeface="Calibri"/>
                <a:cs typeface="Calibri"/>
              </a:rPr>
              <a:t>شخصا</a:t>
            </a:r>
            <a:r>
              <a:rPr lang="en-US" sz="1100" dirty="0">
                <a:latin typeface="Consolas"/>
                <a:ea typeface="Calibri"/>
                <a:cs typeface="Calibri"/>
              </a:rPr>
              <a:t> </a:t>
            </a:r>
            <a:r>
              <a:rPr lang="en-US" sz="1100" dirty="0" err="1">
                <a:latin typeface="Consolas"/>
                <a:ea typeface="Calibri"/>
                <a:cs typeface="Calibri"/>
              </a:rPr>
              <a:t>وجرح</a:t>
            </a:r>
            <a:r>
              <a:rPr lang="en-US" sz="1100" dirty="0">
                <a:latin typeface="Consolas"/>
                <a:ea typeface="Calibri"/>
                <a:cs typeface="Calibri"/>
              </a:rPr>
              <a:t> </a:t>
            </a:r>
            <a:r>
              <a:rPr lang="en-US" sz="1100" dirty="0" err="1">
                <a:latin typeface="Consolas"/>
                <a:ea typeface="Calibri"/>
                <a:cs typeface="Calibri"/>
              </a:rPr>
              <a:t>اخرين</a:t>
            </a:r>
            <a:r>
              <a:rPr lang="en-US" sz="1100" dirty="0">
                <a:latin typeface="Consolas"/>
                <a:ea typeface="Calibri"/>
                <a:cs typeface="Calibri"/>
              </a:rPr>
              <a:t> </a:t>
            </a:r>
            <a:r>
              <a:rPr lang="en-US" sz="1100" dirty="0" err="1">
                <a:latin typeface="Consolas"/>
                <a:ea typeface="Calibri"/>
                <a:cs typeface="Calibri"/>
              </a:rPr>
              <a:t>حسبما</a:t>
            </a:r>
            <a:r>
              <a:rPr lang="en-US" sz="1100" dirty="0">
                <a:latin typeface="Consolas"/>
                <a:ea typeface="Calibri"/>
                <a:cs typeface="Calibri"/>
              </a:rPr>
              <a:t> </a:t>
            </a:r>
            <a:r>
              <a:rPr lang="en-US" sz="1100" dirty="0" err="1">
                <a:latin typeface="Consolas"/>
                <a:ea typeface="Calibri"/>
                <a:cs typeface="Calibri"/>
              </a:rPr>
              <a:t>افادت</a:t>
            </a:r>
            <a:r>
              <a:rPr lang="en-US" sz="1100" dirty="0">
                <a:latin typeface="Consolas"/>
                <a:ea typeface="Calibri"/>
                <a:cs typeface="Calibri"/>
              </a:rPr>
              <a:t> </a:t>
            </a:r>
            <a:r>
              <a:rPr lang="en-US" sz="1100" dirty="0" err="1">
                <a:latin typeface="Consolas"/>
                <a:ea typeface="Calibri"/>
                <a:cs typeface="Calibri"/>
              </a:rPr>
              <a:t>وسائل</a:t>
            </a:r>
            <a:r>
              <a:rPr lang="en-US" sz="1100" dirty="0">
                <a:latin typeface="Consolas"/>
                <a:ea typeface="Calibri"/>
                <a:cs typeface="Calibri"/>
              </a:rPr>
              <a:t> </a:t>
            </a:r>
            <a:r>
              <a:rPr lang="en-US" sz="1100" dirty="0" err="1">
                <a:latin typeface="Consolas"/>
                <a:ea typeface="Calibri"/>
                <a:cs typeface="Calibri"/>
              </a:rPr>
              <a:t>اعلام</a:t>
            </a:r>
            <a:r>
              <a:rPr lang="en-US" sz="1100" dirty="0">
                <a:latin typeface="Consolas"/>
                <a:ea typeface="Calibri"/>
                <a:cs typeface="Calibri"/>
              </a:rPr>
              <a:t> </a:t>
            </a:r>
            <a:r>
              <a:rPr lang="en-US" sz="1100" dirty="0" err="1">
                <a:latin typeface="Consolas"/>
                <a:ea typeface="Calibri"/>
                <a:cs typeface="Calibri"/>
              </a:rPr>
              <a:t>محليه</a:t>
            </a:r>
            <a:r>
              <a:rPr lang="en-US" sz="1100" dirty="0">
                <a:latin typeface="Consolas"/>
                <a:ea typeface="Calibri"/>
                <a:cs typeface="Calibri"/>
              </a:rPr>
              <a:t> </a:t>
            </a:r>
            <a:r>
              <a:rPr lang="en-US" sz="1100" dirty="0" err="1">
                <a:latin typeface="Consolas"/>
                <a:ea typeface="Calibri"/>
                <a:cs typeface="Calibri"/>
              </a:rPr>
              <a:t>نقلا</a:t>
            </a:r>
            <a:r>
              <a:rPr lang="en-US" sz="1100" dirty="0">
                <a:latin typeface="Consolas"/>
                <a:ea typeface="Calibri"/>
                <a:cs typeface="Calibri"/>
              </a:rPr>
              <a:t> </a:t>
            </a:r>
            <a:r>
              <a:rPr lang="en-US" sz="1100" dirty="0" err="1">
                <a:latin typeface="Consolas"/>
                <a:ea typeface="Calibri"/>
                <a:cs typeface="Calibri"/>
              </a:rPr>
              <a:t>اجهزه</a:t>
            </a:r>
            <a:r>
              <a:rPr lang="en-US" sz="1100" dirty="0">
                <a:latin typeface="Consolas"/>
                <a:ea typeface="Calibri"/>
                <a:cs typeface="Calibri"/>
              </a:rPr>
              <a:t> </a:t>
            </a:r>
            <a:r>
              <a:rPr lang="en-US" sz="1100" dirty="0" err="1">
                <a:latin typeface="Consolas"/>
                <a:ea typeface="Calibri"/>
                <a:cs typeface="Calibri"/>
              </a:rPr>
              <a:t>الامن</a:t>
            </a:r>
            <a:r>
              <a:rPr lang="en-US" sz="1100" dirty="0">
                <a:latin typeface="Consolas"/>
                <a:ea typeface="Calibri"/>
                <a:cs typeface="Calibri"/>
              </a:rPr>
              <a:t> </a:t>
            </a:r>
            <a:r>
              <a:rPr lang="en-US" sz="1100" dirty="0" err="1">
                <a:latin typeface="Consolas"/>
                <a:ea typeface="Calibri"/>
                <a:cs typeface="Calibri"/>
              </a:rPr>
              <a:t>واصطدمت</a:t>
            </a:r>
            <a:r>
              <a:rPr lang="en-US" sz="1100" dirty="0">
                <a:latin typeface="Consolas"/>
                <a:ea typeface="Calibri"/>
                <a:cs typeface="Calibri"/>
              </a:rPr>
              <a:t> </a:t>
            </a:r>
            <a:r>
              <a:rPr lang="en-US" sz="1100" dirty="0" err="1">
                <a:latin typeface="Consolas"/>
                <a:ea typeface="Calibri"/>
                <a:cs typeface="Calibri"/>
              </a:rPr>
              <a:t>الحافله</a:t>
            </a:r>
            <a:r>
              <a:rPr lang="en-US" sz="1100" dirty="0">
                <a:latin typeface="Consolas"/>
                <a:ea typeface="Calibri"/>
                <a:cs typeface="Calibri"/>
              </a:rPr>
              <a:t> </a:t>
            </a:r>
            <a:r>
              <a:rPr lang="en-US" sz="1100" dirty="0" err="1">
                <a:latin typeface="Consolas"/>
                <a:ea typeface="Calibri"/>
                <a:cs typeface="Calibri"/>
              </a:rPr>
              <a:t>بمجموعه</a:t>
            </a:r>
            <a:r>
              <a:rPr lang="en-US" sz="1100" dirty="0">
                <a:latin typeface="Consolas"/>
                <a:ea typeface="Calibri"/>
                <a:cs typeface="Calibri"/>
              </a:rPr>
              <a:t> </a:t>
            </a:r>
            <a:r>
              <a:rPr lang="en-US" sz="1100" dirty="0" err="1">
                <a:latin typeface="Consolas"/>
                <a:ea typeface="Calibri"/>
                <a:cs typeface="Calibri"/>
              </a:rPr>
              <a:t>الاشخاص</a:t>
            </a:r>
            <a:r>
              <a:rPr lang="en-US" sz="1100" dirty="0">
                <a:latin typeface="Consolas"/>
                <a:ea typeface="Calibri"/>
                <a:cs typeface="Calibri"/>
              </a:rPr>
              <a:t> </a:t>
            </a:r>
            <a:r>
              <a:rPr lang="en-US" sz="1100" dirty="0" err="1">
                <a:latin typeface="Consolas"/>
                <a:ea typeface="Calibri"/>
                <a:cs typeface="Calibri"/>
              </a:rPr>
              <a:t>مدينه</a:t>
            </a:r>
            <a:r>
              <a:rPr lang="en-US" sz="1100" dirty="0">
                <a:latin typeface="Consolas"/>
                <a:ea typeface="Calibri"/>
                <a:cs typeface="Calibri"/>
              </a:rPr>
              <a:t> </a:t>
            </a:r>
            <a:r>
              <a:rPr lang="en-US" sz="1100" dirty="0" err="1">
                <a:latin typeface="Consolas"/>
                <a:ea typeface="Calibri"/>
                <a:cs typeface="Calibri"/>
              </a:rPr>
              <a:t>غوناييف</a:t>
            </a:r>
            <a:r>
              <a:rPr lang="en-US" sz="1100" dirty="0">
                <a:latin typeface="Consolas"/>
                <a:ea typeface="Calibri"/>
                <a:cs typeface="Calibri"/>
              </a:rPr>
              <a:t> </a:t>
            </a:r>
            <a:r>
              <a:rPr lang="en-US" sz="1100" dirty="0" err="1">
                <a:latin typeface="Consolas"/>
                <a:ea typeface="Calibri"/>
                <a:cs typeface="Calibri"/>
              </a:rPr>
              <a:t>كلم</a:t>
            </a:r>
            <a:r>
              <a:rPr lang="en-US" sz="1100" dirty="0">
                <a:latin typeface="Consolas"/>
                <a:ea typeface="Calibri"/>
                <a:cs typeface="Calibri"/>
              </a:rPr>
              <a:t> </a:t>
            </a:r>
            <a:r>
              <a:rPr lang="en-US" sz="1100" dirty="0" err="1">
                <a:latin typeface="Consolas"/>
                <a:ea typeface="Calibri"/>
                <a:cs typeface="Calibri"/>
              </a:rPr>
              <a:t>عاصمه</a:t>
            </a:r>
            <a:r>
              <a:rPr lang="en-US" sz="1100" dirty="0">
                <a:latin typeface="Consolas"/>
                <a:ea typeface="Calibri"/>
                <a:cs typeface="Calibri"/>
              </a:rPr>
              <a:t> </a:t>
            </a:r>
            <a:r>
              <a:rPr lang="en-US" sz="1100" dirty="0" err="1">
                <a:latin typeface="Consolas"/>
                <a:ea typeface="Calibri"/>
                <a:cs typeface="Calibri"/>
              </a:rPr>
              <a:t>هايتي</a:t>
            </a:r>
            <a:r>
              <a:rPr lang="en-US" sz="1100" dirty="0">
                <a:latin typeface="Consolas"/>
                <a:ea typeface="Calibri"/>
                <a:cs typeface="Calibri"/>
              </a:rPr>
              <a:t> </a:t>
            </a:r>
            <a:r>
              <a:rPr lang="en-US" sz="1100" dirty="0" err="1">
                <a:latin typeface="Consolas"/>
                <a:ea typeface="Calibri"/>
                <a:cs typeface="Calibri"/>
              </a:rPr>
              <a:t>بورت</a:t>
            </a:r>
            <a:r>
              <a:rPr lang="en-US" sz="1100" dirty="0">
                <a:latin typeface="Consolas"/>
                <a:ea typeface="Calibri"/>
                <a:cs typeface="Calibri"/>
              </a:rPr>
              <a:t> </a:t>
            </a:r>
            <a:r>
              <a:rPr lang="en-US" sz="1100" dirty="0" err="1">
                <a:latin typeface="Consolas"/>
                <a:ea typeface="Calibri"/>
                <a:cs typeface="Calibri"/>
              </a:rPr>
              <a:t>برانس</a:t>
            </a:r>
            <a:r>
              <a:rPr lang="en-US" sz="1100" dirty="0">
                <a:latin typeface="Consolas"/>
                <a:ea typeface="Calibri"/>
                <a:cs typeface="Calibri"/>
              </a:rPr>
              <a:t> </a:t>
            </a:r>
            <a:r>
              <a:rPr lang="en-US" sz="1100" dirty="0" err="1">
                <a:latin typeface="Consolas"/>
                <a:ea typeface="Calibri"/>
                <a:cs typeface="Calibri"/>
              </a:rPr>
              <a:t>صدمت</a:t>
            </a:r>
            <a:r>
              <a:rPr lang="en-US" sz="1100" dirty="0">
                <a:latin typeface="Consolas"/>
                <a:ea typeface="Calibri"/>
                <a:cs typeface="Calibri"/>
              </a:rPr>
              <a:t> </a:t>
            </a:r>
            <a:r>
              <a:rPr lang="en-US" sz="1100" dirty="0" err="1">
                <a:latin typeface="Consolas"/>
                <a:ea typeface="Calibri"/>
                <a:cs typeface="Calibri"/>
              </a:rPr>
              <a:t>الحافله</a:t>
            </a:r>
            <a:r>
              <a:rPr lang="en-US" sz="1100" dirty="0">
                <a:latin typeface="Consolas"/>
                <a:ea typeface="Calibri"/>
                <a:cs typeface="Calibri"/>
              </a:rPr>
              <a:t> </a:t>
            </a:r>
            <a:r>
              <a:rPr lang="en-US" sz="1100" dirty="0" err="1">
                <a:latin typeface="Consolas"/>
                <a:ea typeface="Calibri"/>
                <a:cs typeface="Calibri"/>
              </a:rPr>
              <a:t>او</a:t>
            </a:r>
            <a:r>
              <a:rPr lang="en-US" sz="1100" dirty="0">
                <a:latin typeface="Consolas"/>
                <a:ea typeface="Calibri"/>
                <a:cs typeface="Calibri"/>
              </a:rPr>
              <a:t>... </a:t>
            </a:r>
            <a:br>
              <a:rPr lang="en-US" sz="1100" dirty="0">
                <a:latin typeface="Consolas"/>
                <a:ea typeface="Calibri" pitchFamily="34" charset="-122"/>
                <a:cs typeface="Calibri" pitchFamily="34" charset="-120"/>
              </a:rPr>
            </a:br>
            <a:endParaRPr lang="en-US" sz="1100">
              <a:latin typeface="Consolas"/>
            </a:endParaRPr>
          </a:p>
        </p:txBody>
      </p:sp>
      <p:sp>
        <p:nvSpPr>
          <p:cNvPr id="10" name="Text 8"/>
          <p:cNvSpPr/>
          <p:nvPr/>
        </p:nvSpPr>
        <p:spPr>
          <a:xfrm>
            <a:off x="457200" y="1920240"/>
            <a:ext cx="20116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Reference:</a:t>
            </a:r>
            <a:endParaRPr lang="en-US" sz="1100" dirty="0"/>
          </a:p>
        </p:txBody>
      </p:sp>
      <p:sp>
        <p:nvSpPr>
          <p:cNvPr id="11" name="Text 9"/>
          <p:cNvSpPr/>
          <p:nvPr/>
        </p:nvSpPr>
        <p:spPr>
          <a:xfrm>
            <a:off x="1803889" y="1920240"/>
            <a:ext cx="6837191" cy="274320"/>
          </a:xfrm>
          <a:prstGeom prst="rect">
            <a:avLst/>
          </a:prstGeom>
          <a:noFill/>
          <a:ln/>
        </p:spPr>
        <p:txBody>
          <a:bodyPr wrap="square" lIns="0" tIns="0" rIns="0" bIns="0" rtlCol="0" anchor="ctr"/>
          <a:lstStyle/>
          <a:p>
            <a:pPr algn="r"/>
            <a:r>
              <a:rPr lang="en-US" sz="1100" dirty="0" err="1">
                <a:latin typeface="Consolas"/>
                <a:ea typeface="Calibri"/>
                <a:cs typeface="Calibri"/>
              </a:rPr>
              <a:t>أسفر</a:t>
            </a:r>
            <a:r>
              <a:rPr lang="en-US" sz="1100" dirty="0">
                <a:latin typeface="Consolas"/>
                <a:ea typeface="Calibri"/>
                <a:cs typeface="Calibri"/>
              </a:rPr>
              <a:t> </a:t>
            </a:r>
            <a:r>
              <a:rPr lang="en-US" sz="1100" dirty="0" err="1">
                <a:latin typeface="Consolas"/>
                <a:ea typeface="Calibri"/>
                <a:cs typeface="Calibri"/>
              </a:rPr>
              <a:t>حادث</a:t>
            </a:r>
            <a:r>
              <a:rPr lang="en-US" sz="1100" dirty="0">
                <a:latin typeface="Consolas"/>
                <a:ea typeface="Calibri"/>
                <a:cs typeface="Calibri"/>
              </a:rPr>
              <a:t> </a:t>
            </a:r>
            <a:r>
              <a:rPr lang="en-US" sz="1100" dirty="0" err="1">
                <a:latin typeface="Consolas"/>
                <a:ea typeface="Calibri"/>
                <a:cs typeface="Calibri"/>
              </a:rPr>
              <a:t>اصطدام</a:t>
            </a:r>
            <a:r>
              <a:rPr lang="en-US" sz="1100" dirty="0">
                <a:latin typeface="Consolas"/>
                <a:ea typeface="Calibri"/>
                <a:cs typeface="Calibri"/>
              </a:rPr>
              <a:t> </a:t>
            </a:r>
            <a:r>
              <a:rPr lang="en-US" sz="1100" dirty="0" err="1">
                <a:latin typeface="Consolas"/>
                <a:ea typeface="Calibri"/>
                <a:cs typeface="Calibri"/>
              </a:rPr>
              <a:t>حافلة</a:t>
            </a:r>
            <a:r>
              <a:rPr lang="en-US" sz="1100" dirty="0">
                <a:latin typeface="Consolas"/>
                <a:ea typeface="Calibri"/>
                <a:cs typeface="Calibri"/>
              </a:rPr>
              <a:t> </a:t>
            </a:r>
            <a:r>
              <a:rPr lang="en-US" sz="1100" dirty="0" err="1">
                <a:latin typeface="Consolas"/>
                <a:ea typeface="Calibri"/>
                <a:cs typeface="Calibri"/>
              </a:rPr>
              <a:t>بحشد</a:t>
            </a:r>
            <a:r>
              <a:rPr lang="en-US" sz="1100" dirty="0">
                <a:latin typeface="Consolas"/>
                <a:ea typeface="Calibri"/>
                <a:cs typeface="Calibri"/>
              </a:rPr>
              <a:t> </a:t>
            </a:r>
            <a:r>
              <a:rPr lang="en-US" sz="1100" dirty="0" err="1">
                <a:latin typeface="Consolas"/>
                <a:ea typeface="Calibri"/>
                <a:cs typeface="Calibri"/>
              </a:rPr>
              <a:t>في</a:t>
            </a:r>
            <a:r>
              <a:rPr lang="en-US" sz="1100" dirty="0">
                <a:latin typeface="Consolas"/>
                <a:ea typeface="Calibri"/>
                <a:cs typeface="Calibri"/>
              </a:rPr>
              <a:t> </a:t>
            </a:r>
            <a:r>
              <a:rPr lang="en-US" sz="1100" dirty="0" err="1">
                <a:latin typeface="Consolas"/>
                <a:ea typeface="Calibri"/>
                <a:cs typeface="Calibri"/>
              </a:rPr>
              <a:t>هايتي</a:t>
            </a:r>
            <a:r>
              <a:rPr lang="en-US" sz="1100" dirty="0">
                <a:latin typeface="Consolas"/>
                <a:ea typeface="Calibri"/>
                <a:cs typeface="Calibri"/>
              </a:rPr>
              <a:t>، </a:t>
            </a:r>
            <a:r>
              <a:rPr lang="en-US" sz="1100" dirty="0" err="1">
                <a:latin typeface="Consolas"/>
                <a:ea typeface="Calibri"/>
                <a:cs typeface="Calibri"/>
              </a:rPr>
              <a:t>يوم</a:t>
            </a:r>
            <a:r>
              <a:rPr lang="en-US" sz="1100" dirty="0">
                <a:latin typeface="Consolas"/>
                <a:ea typeface="Calibri"/>
                <a:cs typeface="Calibri"/>
              </a:rPr>
              <a:t> </a:t>
            </a:r>
            <a:r>
              <a:rPr lang="en-US" sz="1100" dirty="0" err="1">
                <a:latin typeface="Consolas"/>
                <a:ea typeface="Calibri"/>
                <a:cs typeface="Calibri"/>
              </a:rPr>
              <a:t>الأحد</a:t>
            </a:r>
            <a:r>
              <a:rPr lang="en-US" sz="1100" dirty="0">
                <a:latin typeface="Consolas"/>
                <a:ea typeface="Calibri"/>
                <a:cs typeface="Calibri"/>
              </a:rPr>
              <a:t> 12 </a:t>
            </a:r>
            <a:r>
              <a:rPr lang="en-US" sz="1100" dirty="0" err="1">
                <a:latin typeface="Consolas"/>
                <a:ea typeface="Calibri"/>
                <a:cs typeface="Calibri"/>
              </a:rPr>
              <a:t>مارس</a:t>
            </a:r>
            <a:r>
              <a:rPr lang="en-US" sz="1100" dirty="0">
                <a:latin typeface="Consolas"/>
                <a:ea typeface="Calibri"/>
                <a:cs typeface="Calibri"/>
              </a:rPr>
              <a:t> 2017، </a:t>
            </a:r>
            <a:r>
              <a:rPr lang="en-US" sz="1100" dirty="0" err="1">
                <a:latin typeface="Consolas"/>
                <a:ea typeface="Calibri"/>
                <a:cs typeface="Calibri"/>
              </a:rPr>
              <a:t>عن</a:t>
            </a:r>
            <a:r>
              <a:rPr lang="en-US" sz="1100" dirty="0">
                <a:latin typeface="Consolas"/>
                <a:ea typeface="Calibri"/>
                <a:cs typeface="Calibri"/>
              </a:rPr>
              <a:t> </a:t>
            </a:r>
            <a:r>
              <a:rPr lang="en-US" sz="1100" dirty="0" err="1">
                <a:latin typeface="Consolas"/>
                <a:ea typeface="Calibri"/>
                <a:cs typeface="Calibri"/>
              </a:rPr>
              <a:t>مقتل</a:t>
            </a:r>
            <a:r>
              <a:rPr lang="en-US" sz="1100" dirty="0">
                <a:latin typeface="Consolas"/>
                <a:ea typeface="Calibri"/>
                <a:cs typeface="Calibri"/>
              </a:rPr>
              <a:t> 38 </a:t>
            </a:r>
            <a:r>
              <a:rPr lang="en-US" sz="1100" dirty="0" err="1">
                <a:latin typeface="Consolas"/>
                <a:ea typeface="Calibri"/>
                <a:cs typeface="Calibri"/>
              </a:rPr>
              <a:t>شخصا</a:t>
            </a:r>
            <a:r>
              <a:rPr lang="en-US" sz="1100" dirty="0">
                <a:latin typeface="Consolas"/>
                <a:ea typeface="Calibri"/>
                <a:cs typeface="Calibri"/>
              </a:rPr>
              <a:t> </a:t>
            </a:r>
            <a:r>
              <a:rPr lang="en-US" sz="1100" dirty="0" err="1">
                <a:latin typeface="Consolas"/>
                <a:ea typeface="Calibri"/>
                <a:cs typeface="Calibri"/>
              </a:rPr>
              <a:t>وجرح</a:t>
            </a:r>
            <a:r>
              <a:rPr lang="en-US" sz="1100" dirty="0">
                <a:latin typeface="Consolas"/>
                <a:ea typeface="Calibri"/>
                <a:cs typeface="Calibri"/>
              </a:rPr>
              <a:t> 13 </a:t>
            </a:r>
            <a:r>
              <a:rPr lang="en-US" sz="1100" dirty="0" err="1">
                <a:latin typeface="Consolas"/>
                <a:ea typeface="Calibri"/>
                <a:cs typeface="Calibri"/>
              </a:rPr>
              <a:t>اخرين</a:t>
            </a:r>
            <a:r>
              <a:rPr lang="en-US" sz="1100" dirty="0">
                <a:latin typeface="Consolas"/>
                <a:ea typeface="Calibri"/>
                <a:cs typeface="Calibri"/>
              </a:rPr>
              <a:t>، </a:t>
            </a:r>
            <a:r>
              <a:rPr lang="en-US" sz="1100" dirty="0" err="1">
                <a:latin typeface="Consolas"/>
                <a:ea typeface="Calibri"/>
                <a:cs typeface="Calibri"/>
              </a:rPr>
              <a:t>حسبما</a:t>
            </a:r>
            <a:r>
              <a:rPr lang="en-US" sz="1100" dirty="0">
                <a:latin typeface="Consolas"/>
                <a:ea typeface="Calibri"/>
                <a:cs typeface="Calibri"/>
              </a:rPr>
              <a:t> </a:t>
            </a:r>
            <a:r>
              <a:rPr lang="en-US" sz="1100" dirty="0" err="1">
                <a:latin typeface="Consolas"/>
                <a:ea typeface="Calibri"/>
                <a:cs typeface="Calibri"/>
              </a:rPr>
              <a:t>أفادت</a:t>
            </a:r>
            <a:r>
              <a:rPr lang="en-US" sz="1100" dirty="0">
                <a:latin typeface="Consolas"/>
                <a:ea typeface="Calibri"/>
                <a:cs typeface="Calibri"/>
              </a:rPr>
              <a:t> </a:t>
            </a:r>
            <a:r>
              <a:rPr lang="en-US" sz="1100" dirty="0" err="1">
                <a:latin typeface="Consolas"/>
                <a:ea typeface="Calibri"/>
                <a:cs typeface="Calibri"/>
              </a:rPr>
              <a:t>وسائل</a:t>
            </a:r>
            <a:r>
              <a:rPr lang="en-US" sz="1100" dirty="0">
                <a:latin typeface="Consolas"/>
                <a:ea typeface="Calibri"/>
                <a:cs typeface="Calibri"/>
              </a:rPr>
              <a:t> </a:t>
            </a:r>
            <a:r>
              <a:rPr lang="en-US" sz="1100" dirty="0" err="1">
                <a:latin typeface="Consolas"/>
                <a:ea typeface="Calibri"/>
                <a:cs typeface="Calibri"/>
              </a:rPr>
              <a:t>إعلام</a:t>
            </a:r>
            <a:r>
              <a:rPr lang="en-US" sz="1100" dirty="0">
                <a:latin typeface="Consolas"/>
                <a:ea typeface="Calibri"/>
                <a:cs typeface="Calibri"/>
              </a:rPr>
              <a:t> </a:t>
            </a:r>
            <a:r>
              <a:rPr lang="en-US" sz="1100" dirty="0" err="1">
                <a:latin typeface="Consolas"/>
                <a:ea typeface="Calibri"/>
                <a:cs typeface="Calibri"/>
              </a:rPr>
              <a:t>محلية</a:t>
            </a:r>
            <a:r>
              <a:rPr lang="en-US" sz="1100" dirty="0">
                <a:latin typeface="Consolas"/>
                <a:ea typeface="Calibri"/>
                <a:cs typeface="Calibri"/>
              </a:rPr>
              <a:t> </a:t>
            </a:r>
            <a:r>
              <a:rPr lang="en-US" sz="1100" dirty="0" err="1">
                <a:latin typeface="Consolas"/>
                <a:ea typeface="Calibri"/>
                <a:cs typeface="Calibri"/>
              </a:rPr>
              <a:t>نقلا</a:t>
            </a:r>
            <a:r>
              <a:rPr lang="en-US" sz="1100" dirty="0">
                <a:latin typeface="Consolas"/>
                <a:ea typeface="Calibri"/>
                <a:cs typeface="Calibri"/>
              </a:rPr>
              <a:t> </a:t>
            </a:r>
            <a:r>
              <a:rPr lang="en-US" sz="1100" dirty="0" err="1">
                <a:latin typeface="Consolas"/>
                <a:ea typeface="Calibri"/>
                <a:cs typeface="Calibri"/>
              </a:rPr>
              <a:t>عن</a:t>
            </a:r>
            <a:r>
              <a:rPr lang="en-US" sz="1100" dirty="0">
                <a:latin typeface="Consolas"/>
                <a:ea typeface="Calibri"/>
                <a:cs typeface="Calibri"/>
              </a:rPr>
              <a:t> </a:t>
            </a:r>
            <a:r>
              <a:rPr lang="en-US" sz="1100" dirty="0" err="1">
                <a:latin typeface="Consolas"/>
                <a:ea typeface="Calibri"/>
                <a:cs typeface="Calibri"/>
              </a:rPr>
              <a:t>أجهزة</a:t>
            </a:r>
            <a:r>
              <a:rPr lang="en-US" sz="1100" dirty="0">
                <a:latin typeface="Consolas"/>
                <a:ea typeface="Calibri"/>
                <a:cs typeface="Calibri"/>
              </a:rPr>
              <a:t> </a:t>
            </a:r>
            <a:r>
              <a:rPr lang="en-US" sz="1100" dirty="0" err="1">
                <a:latin typeface="Consolas"/>
                <a:ea typeface="Calibri"/>
                <a:cs typeface="Calibri"/>
              </a:rPr>
              <a:t>الأمن</a:t>
            </a:r>
            <a:r>
              <a:rPr lang="en-US" sz="1100" dirty="0">
                <a:latin typeface="Consolas"/>
                <a:ea typeface="Calibri"/>
                <a:cs typeface="Calibri"/>
              </a:rPr>
              <a:t>. </a:t>
            </a:r>
            <a:br>
              <a:rPr lang="en-US" sz="1100" dirty="0">
                <a:latin typeface="Consolas"/>
                <a:ea typeface="Calibri" pitchFamily="34" charset="-122"/>
                <a:cs typeface="Calibri" pitchFamily="34" charset="-120"/>
              </a:rPr>
            </a:br>
            <a:endParaRPr lang="en-US" sz="1100">
              <a:latin typeface="Consolas"/>
            </a:endParaRPr>
          </a:p>
        </p:txBody>
      </p:sp>
      <p:sp>
        <p:nvSpPr>
          <p:cNvPr id="12" name="Text 10"/>
          <p:cNvSpPr/>
          <p:nvPr/>
        </p:nvSpPr>
        <p:spPr>
          <a:xfrm>
            <a:off x="457200" y="2231136"/>
            <a:ext cx="20116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Generated:</a:t>
            </a:r>
            <a:endParaRPr lang="en-US" sz="1100" dirty="0"/>
          </a:p>
        </p:txBody>
      </p:sp>
      <p:sp>
        <p:nvSpPr>
          <p:cNvPr id="13" name="Text 11"/>
          <p:cNvSpPr/>
          <p:nvPr/>
        </p:nvSpPr>
        <p:spPr>
          <a:xfrm>
            <a:off x="2514600" y="2231136"/>
            <a:ext cx="6126480" cy="274320"/>
          </a:xfrm>
          <a:prstGeom prst="rect">
            <a:avLst/>
          </a:prstGeom>
          <a:noFill/>
          <a:ln/>
        </p:spPr>
        <p:txBody>
          <a:bodyPr wrap="square" lIns="0" tIns="0" rIns="0" bIns="0" rtlCol="0" anchor="ctr"/>
          <a:lstStyle/>
          <a:p>
            <a:pPr algn="r"/>
            <a:r>
              <a:rPr lang="en-US" sz="1100" dirty="0">
                <a:latin typeface="Consolas"/>
                <a:ea typeface="Calibri"/>
                <a:cs typeface="Calibri"/>
              </a:rPr>
              <a:t> </a:t>
            </a:r>
            <a:r>
              <a:rPr lang="en-US" sz="1100" err="1">
                <a:latin typeface="Consolas"/>
                <a:ea typeface="Calibri"/>
                <a:cs typeface="Calibri"/>
              </a:rPr>
              <a:t>تمكنت</a:t>
            </a:r>
            <a:r>
              <a:rPr lang="en-US" sz="1100" dirty="0">
                <a:latin typeface="Consolas"/>
                <a:ea typeface="Calibri"/>
                <a:cs typeface="Calibri"/>
              </a:rPr>
              <a:t> </a:t>
            </a:r>
            <a:r>
              <a:rPr lang="en-US" sz="1100" err="1">
                <a:latin typeface="Consolas"/>
                <a:ea typeface="Calibri"/>
                <a:cs typeface="Calibri"/>
              </a:rPr>
              <a:t>الشرطه</a:t>
            </a:r>
            <a:r>
              <a:rPr lang="en-US" sz="1100" dirty="0">
                <a:latin typeface="Consolas"/>
                <a:ea typeface="Calibri"/>
                <a:cs typeface="Calibri"/>
              </a:rPr>
              <a:t> </a:t>
            </a:r>
            <a:r>
              <a:rPr lang="en-US" sz="1100" err="1">
                <a:latin typeface="Consolas"/>
                <a:ea typeface="Calibri"/>
                <a:cs typeface="Calibri"/>
              </a:rPr>
              <a:t>العدليه</a:t>
            </a:r>
            <a:r>
              <a:rPr lang="en-US" sz="1100" dirty="0">
                <a:latin typeface="Consolas"/>
                <a:ea typeface="Calibri"/>
                <a:cs typeface="Calibri"/>
              </a:rPr>
              <a:t> </a:t>
            </a:r>
            <a:r>
              <a:rPr lang="en-US" sz="1100" err="1">
                <a:latin typeface="Consolas"/>
                <a:ea typeface="Calibri"/>
                <a:cs typeface="Calibri"/>
              </a:rPr>
              <a:t>القطريت</a:t>
            </a:r>
            <a:r>
              <a:rPr lang="en-US" sz="1100" dirty="0">
                <a:latin typeface="Consolas"/>
                <a:ea typeface="Calibri"/>
                <a:cs typeface="Calibri"/>
              </a:rPr>
              <a:t> </a:t>
            </a:r>
            <a:r>
              <a:rPr lang="en-US" sz="1100" err="1">
                <a:latin typeface="Consolas"/>
                <a:ea typeface="Calibri"/>
                <a:cs typeface="Calibri"/>
              </a:rPr>
              <a:t>اليوم</a:t>
            </a:r>
            <a:r>
              <a:rPr lang="en-US" sz="1100" dirty="0">
                <a:latin typeface="Consolas"/>
                <a:ea typeface="Calibri"/>
                <a:cs typeface="Calibri"/>
              </a:rPr>
              <a:t> </a:t>
            </a:r>
            <a:r>
              <a:rPr lang="en-US" sz="1100" err="1">
                <a:latin typeface="Consolas"/>
                <a:ea typeface="Calibri"/>
                <a:cs typeface="Calibri"/>
              </a:rPr>
              <a:t>الاحد</a:t>
            </a:r>
            <a:r>
              <a:rPr lang="en-US" sz="1100" dirty="0">
                <a:latin typeface="Consolas"/>
                <a:ea typeface="Calibri"/>
                <a:cs typeface="Calibri"/>
              </a:rPr>
              <a:t> </a:t>
            </a:r>
            <a:r>
              <a:rPr lang="en-US" sz="1100" err="1">
                <a:latin typeface="Consolas"/>
                <a:ea typeface="Calibri"/>
                <a:cs typeface="Calibri"/>
              </a:rPr>
              <a:t>ان</a:t>
            </a:r>
            <a:r>
              <a:rPr lang="en-US" sz="1100" dirty="0">
                <a:latin typeface="Consolas"/>
                <a:ea typeface="Calibri"/>
                <a:cs typeface="Calibri"/>
              </a:rPr>
              <a:t> </a:t>
            </a:r>
            <a:r>
              <a:rPr lang="en-US" sz="1100" err="1">
                <a:latin typeface="Consolas"/>
                <a:ea typeface="Calibri"/>
                <a:cs typeface="Calibri"/>
              </a:rPr>
              <a:t>مقتل</a:t>
            </a:r>
            <a:r>
              <a:rPr lang="en-US" sz="1100" dirty="0">
                <a:latin typeface="Consolas"/>
                <a:ea typeface="Calibri"/>
                <a:cs typeface="Calibri"/>
              </a:rPr>
              <a:t> </a:t>
            </a:r>
            <a:r>
              <a:rPr lang="en-US" sz="1100" err="1">
                <a:latin typeface="Consolas"/>
                <a:ea typeface="Calibri"/>
                <a:cs typeface="Calibri"/>
              </a:rPr>
              <a:t>عمليه</a:t>
            </a:r>
            <a:r>
              <a:rPr lang="en-US" sz="1100" dirty="0">
                <a:latin typeface="Consolas"/>
                <a:ea typeface="Calibri"/>
                <a:cs typeface="Calibri"/>
              </a:rPr>
              <a:t> </a:t>
            </a:r>
            <a:r>
              <a:rPr lang="en-US" sz="1100" err="1">
                <a:latin typeface="Consolas"/>
                <a:ea typeface="Calibri"/>
                <a:cs typeface="Calibri"/>
              </a:rPr>
              <a:t>الرئاسه</a:t>
            </a:r>
            <a:r>
              <a:rPr lang="en-US" sz="1100" dirty="0">
                <a:latin typeface="Consolas"/>
                <a:ea typeface="Calibri"/>
                <a:cs typeface="Calibri"/>
              </a:rPr>
              <a:t> </a:t>
            </a:r>
            <a:r>
              <a:rPr lang="en-US" sz="1100" err="1">
                <a:latin typeface="Consolas"/>
                <a:ea typeface="Calibri"/>
                <a:cs typeface="Calibri"/>
              </a:rPr>
              <a:t>اليوم</a:t>
            </a:r>
            <a:r>
              <a:rPr lang="en-US" sz="1100" dirty="0">
                <a:latin typeface="Consolas"/>
                <a:ea typeface="Calibri"/>
                <a:cs typeface="Calibri"/>
              </a:rPr>
              <a:t> </a:t>
            </a:r>
            <a:r>
              <a:rPr lang="en-US" sz="1100" err="1">
                <a:latin typeface="Consolas"/>
                <a:ea typeface="Calibri"/>
                <a:cs typeface="Calibri"/>
              </a:rPr>
              <a:t>في</a:t>
            </a:r>
            <a:r>
              <a:rPr lang="en-US" sz="1100" dirty="0">
                <a:latin typeface="Consolas"/>
                <a:ea typeface="Calibri"/>
                <a:cs typeface="Calibri"/>
              </a:rPr>
              <a:t> </a:t>
            </a:r>
            <a:r>
              <a:rPr lang="en-US" sz="1100" err="1">
                <a:latin typeface="Consolas"/>
                <a:ea typeface="Calibri"/>
                <a:cs typeface="Calibri"/>
              </a:rPr>
              <a:t>شهر</a:t>
            </a:r>
            <a:r>
              <a:rPr lang="en-US" sz="1100" dirty="0">
                <a:latin typeface="Consolas"/>
                <a:ea typeface="Calibri"/>
                <a:cs typeface="Calibri"/>
              </a:rPr>
              <a:t> </a:t>
            </a:r>
            <a:r>
              <a:rPr lang="en-US" sz="1100" err="1">
                <a:latin typeface="Consolas"/>
                <a:ea typeface="Calibri"/>
                <a:cs typeface="Calibri"/>
              </a:rPr>
              <a:t>مارس</a:t>
            </a:r>
            <a:r>
              <a:rPr lang="en-US" sz="1100" dirty="0">
                <a:latin typeface="Consolas"/>
                <a:ea typeface="Calibri"/>
                <a:cs typeface="Calibri"/>
              </a:rPr>
              <a:t> </a:t>
            </a:r>
            <a:r>
              <a:rPr lang="en-US" sz="1100" err="1">
                <a:latin typeface="Consolas"/>
                <a:ea typeface="Calibri"/>
                <a:cs typeface="Calibri"/>
              </a:rPr>
              <a:t>الجاري</a:t>
            </a:r>
            <a:r>
              <a:rPr lang="en-US" sz="1100" dirty="0">
                <a:latin typeface="Consolas"/>
                <a:ea typeface="Calibri"/>
                <a:cs typeface="Calibri"/>
              </a:rPr>
              <a:t> </a:t>
            </a:r>
            <a:br>
              <a:rPr lang="en-US" sz="1100" dirty="0">
                <a:latin typeface="Consolas"/>
                <a:ea typeface="Calibri" pitchFamily="34" charset="-122"/>
                <a:cs typeface="Calibri" pitchFamily="34" charset="-120"/>
              </a:rPr>
            </a:br>
            <a:endParaRPr lang="en-US" sz="1100">
              <a:latin typeface="Consolas"/>
            </a:endParaRPr>
          </a:p>
        </p:txBody>
      </p:sp>
      <p:sp>
        <p:nvSpPr>
          <p:cNvPr id="14" name="Shape 12"/>
          <p:cNvSpPr/>
          <p:nvPr/>
        </p:nvSpPr>
        <p:spPr>
          <a:xfrm>
            <a:off x="274320" y="3108960"/>
            <a:ext cx="8549640" cy="173736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274320" y="3108960"/>
            <a:ext cx="64008" cy="1737360"/>
          </a:xfrm>
          <a:prstGeom prst="rect">
            <a:avLst/>
          </a:prstGeom>
          <a:solidFill>
            <a:srgbClr val="2EC4B6"/>
          </a:solidFill>
          <a:ln w="12700">
            <a:solidFill>
              <a:srgbClr val="2EC4B6"/>
            </a:solidFill>
            <a:prstDash val="solid"/>
          </a:ln>
        </p:spPr>
        <p:txBody>
          <a:bodyPr/>
          <a:lstStyle/>
          <a:p>
            <a:endParaRPr lang="en-US"/>
          </a:p>
        </p:txBody>
      </p:sp>
      <p:sp>
        <p:nvSpPr>
          <p:cNvPr id="16" name="Text 14"/>
          <p:cNvSpPr/>
          <p:nvPr/>
        </p:nvSpPr>
        <p:spPr>
          <a:xfrm>
            <a:off x="457200" y="3172968"/>
            <a:ext cx="1828800" cy="292608"/>
          </a:xfrm>
          <a:prstGeom prst="rect">
            <a:avLst/>
          </a:prstGeom>
          <a:noFill/>
          <a:ln/>
        </p:spPr>
        <p:txBody>
          <a:bodyPr wrap="square" lIns="0" tIns="0" rIns="0" bIns="0" rtlCol="0" anchor="ctr"/>
          <a:lstStyle/>
          <a:p>
            <a:pPr marL="0" indent="0">
              <a:buNone/>
            </a:pPr>
            <a:r>
              <a:rPr lang="en-US" sz="1200" b="1" dirty="0">
                <a:solidFill>
                  <a:srgbClr val="2EC4B6"/>
                </a:solidFill>
                <a:latin typeface="Calibri" pitchFamily="34" charset="0"/>
                <a:ea typeface="Calibri" pitchFamily="34" charset="-122"/>
                <a:cs typeface="Calibri" pitchFamily="34" charset="-120"/>
              </a:rPr>
              <a:t>Example 2</a:t>
            </a:r>
            <a:endParaRPr lang="en-US" sz="1200" dirty="0"/>
          </a:p>
        </p:txBody>
      </p:sp>
      <p:sp>
        <p:nvSpPr>
          <p:cNvPr id="17" name="Text 15"/>
          <p:cNvSpPr/>
          <p:nvPr/>
        </p:nvSpPr>
        <p:spPr>
          <a:xfrm>
            <a:off x="457200" y="3483864"/>
            <a:ext cx="20116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Article (truncated):</a:t>
            </a:r>
            <a:endParaRPr lang="en-US" sz="1100" dirty="0"/>
          </a:p>
        </p:txBody>
      </p:sp>
      <p:sp>
        <p:nvSpPr>
          <p:cNvPr id="18" name="Text 16"/>
          <p:cNvSpPr/>
          <p:nvPr/>
        </p:nvSpPr>
        <p:spPr>
          <a:xfrm>
            <a:off x="2514600" y="3483864"/>
            <a:ext cx="6126480" cy="274320"/>
          </a:xfrm>
          <a:prstGeom prst="rect">
            <a:avLst/>
          </a:prstGeom>
          <a:noFill/>
          <a:ln/>
        </p:spPr>
        <p:txBody>
          <a:bodyPr wrap="square" lIns="0" tIns="0" rIns="0" bIns="0" rtlCol="0" anchor="ctr"/>
          <a:lstStyle/>
          <a:p>
            <a:pPr algn="r"/>
            <a:r>
              <a:rPr lang="en-US" sz="1100" err="1">
                <a:latin typeface="Consolas"/>
                <a:ea typeface="Calibri"/>
                <a:cs typeface="Calibri"/>
              </a:rPr>
              <a:t>عشان</a:t>
            </a:r>
            <a:r>
              <a:rPr lang="en-US" sz="1100" dirty="0">
                <a:latin typeface="Consolas"/>
                <a:ea typeface="Calibri"/>
                <a:cs typeface="Calibri"/>
              </a:rPr>
              <a:t> </a:t>
            </a:r>
            <a:r>
              <a:rPr lang="en-US" sz="1100" err="1">
                <a:latin typeface="Consolas"/>
                <a:ea typeface="Calibri"/>
                <a:cs typeface="Calibri"/>
              </a:rPr>
              <a:t>الرسالة</a:t>
            </a:r>
            <a:r>
              <a:rPr lang="en-US" sz="1100" dirty="0">
                <a:latin typeface="Consolas"/>
                <a:ea typeface="Calibri"/>
                <a:cs typeface="Calibri"/>
              </a:rPr>
              <a:t> </a:t>
            </a:r>
            <a:r>
              <a:rPr lang="en-US" sz="1100" err="1">
                <a:latin typeface="Consolas"/>
                <a:ea typeface="Calibri"/>
                <a:cs typeface="Calibri"/>
              </a:rPr>
              <a:t>الإعلامية</a:t>
            </a:r>
            <a:r>
              <a:rPr lang="en-US" sz="1100" dirty="0">
                <a:latin typeface="Consolas"/>
                <a:ea typeface="Calibri"/>
                <a:cs typeface="Calibri"/>
              </a:rPr>
              <a:t> </a:t>
            </a:r>
            <a:r>
              <a:rPr lang="en-US" sz="1100" err="1">
                <a:latin typeface="Consolas"/>
                <a:ea typeface="Calibri"/>
                <a:cs typeface="Calibri"/>
              </a:rPr>
              <a:t>تكون</a:t>
            </a:r>
            <a:r>
              <a:rPr lang="en-US" sz="1100" dirty="0">
                <a:latin typeface="Consolas"/>
                <a:ea typeface="Calibri"/>
                <a:cs typeface="Calibri"/>
              </a:rPr>
              <a:t> </a:t>
            </a:r>
            <a:r>
              <a:rPr lang="en-US" sz="1100" err="1">
                <a:latin typeface="Consolas"/>
                <a:ea typeface="Calibri"/>
                <a:cs typeface="Calibri"/>
              </a:rPr>
              <a:t>قوية</a:t>
            </a:r>
            <a:r>
              <a:rPr lang="en-US" sz="1100" dirty="0">
                <a:latin typeface="Consolas"/>
                <a:ea typeface="Calibri"/>
                <a:cs typeface="Calibri"/>
              </a:rPr>
              <a:t> </a:t>
            </a:r>
            <a:r>
              <a:rPr lang="en-US" sz="1100" err="1">
                <a:latin typeface="Consolas"/>
                <a:ea typeface="Calibri"/>
                <a:cs typeface="Calibri"/>
              </a:rPr>
              <a:t>وتأثر</a:t>
            </a:r>
            <a:r>
              <a:rPr lang="en-US" sz="1100" dirty="0">
                <a:latin typeface="Consolas"/>
                <a:ea typeface="Calibri"/>
                <a:cs typeface="Calibri"/>
              </a:rPr>
              <a:t> </a:t>
            </a:r>
            <a:r>
              <a:rPr lang="en-US" sz="1100" err="1">
                <a:latin typeface="Consolas"/>
                <a:ea typeface="Calibri"/>
                <a:cs typeface="Calibri"/>
              </a:rPr>
              <a:t>في</a:t>
            </a:r>
            <a:r>
              <a:rPr lang="en-US" sz="1100" dirty="0">
                <a:latin typeface="Consolas"/>
                <a:ea typeface="Calibri"/>
                <a:cs typeface="Calibri"/>
              </a:rPr>
              <a:t> </a:t>
            </a:r>
            <a:r>
              <a:rPr lang="en-US" sz="1100" err="1">
                <a:latin typeface="Consolas"/>
                <a:ea typeface="Calibri"/>
                <a:cs typeface="Calibri"/>
              </a:rPr>
              <a:t>الناس</a:t>
            </a:r>
            <a:r>
              <a:rPr lang="en-US" sz="1100" dirty="0">
                <a:latin typeface="Consolas"/>
                <a:ea typeface="Calibri"/>
                <a:cs typeface="Calibri"/>
              </a:rPr>
              <a:t>، </a:t>
            </a:r>
            <a:r>
              <a:rPr lang="en-US" sz="1100" err="1">
                <a:latin typeface="Consolas"/>
                <a:ea typeface="Calibri"/>
                <a:cs typeface="Calibri"/>
              </a:rPr>
              <a:t>كتير</a:t>
            </a:r>
            <a:r>
              <a:rPr lang="en-US" sz="1100" dirty="0">
                <a:latin typeface="Consolas"/>
                <a:ea typeface="Calibri"/>
                <a:cs typeface="Calibri"/>
              </a:rPr>
              <a:t> </a:t>
            </a:r>
            <a:r>
              <a:rPr lang="en-US" sz="1100" err="1">
                <a:latin typeface="Consolas"/>
                <a:ea typeface="Calibri"/>
                <a:cs typeface="Calibri"/>
              </a:rPr>
              <a:t>بنلجأ</a:t>
            </a:r>
            <a:r>
              <a:rPr lang="en-US" sz="1100" dirty="0">
                <a:latin typeface="Consolas"/>
                <a:ea typeface="Calibri"/>
                <a:cs typeface="Calibri"/>
              </a:rPr>
              <a:t> </a:t>
            </a:r>
            <a:r>
              <a:rPr lang="en-US" sz="1100" err="1">
                <a:latin typeface="Consolas"/>
                <a:ea typeface="Calibri"/>
                <a:cs typeface="Calibri"/>
              </a:rPr>
              <a:t>لاستخدام</a:t>
            </a:r>
            <a:r>
              <a:rPr lang="en-US" sz="1100" dirty="0">
                <a:latin typeface="Consolas"/>
                <a:ea typeface="Calibri"/>
                <a:cs typeface="Calibri"/>
              </a:rPr>
              <a:t> </a:t>
            </a:r>
            <a:r>
              <a:rPr lang="en-US" sz="1100" err="1">
                <a:latin typeface="Consolas"/>
                <a:ea typeface="Calibri"/>
                <a:cs typeface="Calibri"/>
              </a:rPr>
              <a:t>الجانب</a:t>
            </a:r>
            <a:r>
              <a:rPr lang="en-US" sz="1100" dirty="0">
                <a:latin typeface="Consolas"/>
                <a:ea typeface="Calibri"/>
                <a:cs typeface="Calibri"/>
              </a:rPr>
              <a:t> </a:t>
            </a:r>
            <a:r>
              <a:rPr lang="en-US" sz="1100" err="1">
                <a:latin typeface="Consolas"/>
                <a:ea typeface="Calibri"/>
                <a:cs typeface="Calibri"/>
              </a:rPr>
              <a:t>العاطفي</a:t>
            </a:r>
            <a:r>
              <a:rPr lang="en-US" sz="1100" dirty="0">
                <a:latin typeface="Consolas"/>
                <a:ea typeface="Calibri"/>
                <a:cs typeface="Calibri"/>
              </a:rPr>
              <a:t> </a:t>
            </a:r>
            <a:r>
              <a:rPr lang="en-US" sz="1100" err="1">
                <a:latin typeface="Consolas"/>
                <a:ea typeface="Calibri"/>
                <a:cs typeface="Calibri"/>
              </a:rPr>
              <a:t>أو</a:t>
            </a:r>
            <a:r>
              <a:rPr lang="en-US" sz="1100" dirty="0">
                <a:latin typeface="Consolas"/>
                <a:ea typeface="Calibri"/>
                <a:cs typeface="Calibri"/>
              </a:rPr>
              <a:t> </a:t>
            </a:r>
            <a:r>
              <a:rPr lang="en-US" sz="1100" err="1">
                <a:latin typeface="Consolas"/>
                <a:ea typeface="Calibri"/>
                <a:cs typeface="Calibri"/>
              </a:rPr>
              <a:t>أسلوب</a:t>
            </a:r>
            <a:r>
              <a:rPr lang="en-US" sz="1100" dirty="0">
                <a:latin typeface="Consolas"/>
                <a:ea typeface="Calibri"/>
                <a:cs typeface="Calibri"/>
              </a:rPr>
              <a:t> </a:t>
            </a:r>
            <a:r>
              <a:rPr lang="en-US" sz="1100" err="1">
                <a:latin typeface="Consolas"/>
                <a:ea typeface="Calibri"/>
                <a:cs typeface="Calibri"/>
              </a:rPr>
              <a:t>الحكي</a:t>
            </a:r>
            <a:r>
              <a:rPr lang="en-US" sz="1100" dirty="0">
                <a:latin typeface="Consolas"/>
                <a:ea typeface="Calibri"/>
                <a:cs typeface="Calibri"/>
              </a:rPr>
              <a:t> (</a:t>
            </a:r>
            <a:r>
              <a:rPr lang="en-US" sz="1100" err="1">
                <a:latin typeface="Consolas"/>
                <a:ea typeface="Calibri"/>
                <a:cs typeface="Calibri"/>
              </a:rPr>
              <a:t>القصص</a:t>
            </a:r>
            <a:r>
              <a:rPr lang="en-US" sz="1100" dirty="0">
                <a:latin typeface="Consolas"/>
                <a:ea typeface="Calibri"/>
                <a:cs typeface="Calibri"/>
              </a:rPr>
              <a:t>). </a:t>
            </a:r>
            <a:r>
              <a:rPr lang="en-US" sz="1100" err="1">
                <a:latin typeface="Consolas"/>
                <a:ea typeface="Calibri"/>
                <a:cs typeface="Calibri"/>
              </a:rPr>
              <a:t>الناس</a:t>
            </a:r>
            <a:r>
              <a:rPr lang="en-US" sz="1100" dirty="0">
                <a:latin typeface="Consolas"/>
                <a:ea typeface="Calibri"/>
                <a:cs typeface="Calibri"/>
              </a:rPr>
              <a:t> </a:t>
            </a:r>
            <a:r>
              <a:rPr lang="en-US" sz="1100" err="1">
                <a:latin typeface="Consolas"/>
                <a:ea typeface="Calibri"/>
                <a:cs typeface="Calibri"/>
              </a:rPr>
              <a:t>عادةً</a:t>
            </a:r>
            <a:r>
              <a:rPr lang="en-US" sz="1100" dirty="0">
                <a:latin typeface="Consolas"/>
                <a:ea typeface="Calibri"/>
                <a:cs typeface="Calibri"/>
              </a:rPr>
              <a:t> </a:t>
            </a:r>
            <a:r>
              <a:rPr lang="en-US" sz="1100" err="1">
                <a:latin typeface="Consolas"/>
                <a:ea typeface="Calibri"/>
                <a:cs typeface="Calibri"/>
              </a:rPr>
              <a:t>بتتفاعل</a:t>
            </a:r>
            <a:r>
              <a:rPr lang="en-US" sz="1100" dirty="0">
                <a:latin typeface="Consolas"/>
                <a:ea typeface="Calibri"/>
                <a:cs typeface="Calibri"/>
              </a:rPr>
              <a:t> </a:t>
            </a:r>
            <a:r>
              <a:rPr lang="en-US" sz="1100" err="1">
                <a:latin typeface="Consolas"/>
                <a:ea typeface="Calibri"/>
                <a:cs typeface="Calibri"/>
              </a:rPr>
              <a:t>أكتر</a:t>
            </a:r>
            <a:r>
              <a:rPr lang="en-US" sz="1100" dirty="0">
                <a:latin typeface="Consolas"/>
                <a:ea typeface="Calibri"/>
                <a:cs typeface="Calibri"/>
              </a:rPr>
              <a:t> </a:t>
            </a:r>
            <a:r>
              <a:rPr lang="en-US" sz="1100" err="1">
                <a:latin typeface="Consolas"/>
                <a:ea typeface="Calibri"/>
                <a:cs typeface="Calibri"/>
              </a:rPr>
              <a:t>مع</a:t>
            </a:r>
            <a:r>
              <a:rPr lang="en-US" sz="1100" dirty="0">
                <a:latin typeface="Consolas"/>
                <a:ea typeface="Calibri"/>
                <a:cs typeface="Calibri"/>
              </a:rPr>
              <a:t> </a:t>
            </a:r>
            <a:r>
              <a:rPr lang="en-US" sz="1100" err="1">
                <a:latin typeface="Consolas"/>
                <a:ea typeface="Calibri"/>
                <a:cs typeface="Calibri"/>
              </a:rPr>
              <a:t>القصص</a:t>
            </a:r>
            <a:r>
              <a:rPr lang="en-US" sz="1100" dirty="0">
                <a:latin typeface="Consolas"/>
                <a:ea typeface="Calibri"/>
                <a:cs typeface="Calibri"/>
              </a:rPr>
              <a:t> </a:t>
            </a:r>
            <a:r>
              <a:rPr lang="en-US" sz="1100" err="1">
                <a:latin typeface="Consolas"/>
                <a:ea typeface="Calibri"/>
                <a:cs typeface="Calibri"/>
              </a:rPr>
              <a:t>اللي</a:t>
            </a:r>
            <a:r>
              <a:rPr lang="en-US" sz="1100" dirty="0">
                <a:latin typeface="Consolas"/>
                <a:ea typeface="Calibri"/>
                <a:cs typeface="Calibri"/>
              </a:rPr>
              <a:t> </a:t>
            </a:r>
            <a:r>
              <a:rPr lang="en-US" sz="1100" err="1">
                <a:latin typeface="Consolas"/>
                <a:ea typeface="Calibri"/>
                <a:cs typeface="Calibri"/>
              </a:rPr>
              <a:t>فيها</a:t>
            </a:r>
            <a:r>
              <a:rPr lang="en-US" sz="1100" dirty="0">
                <a:latin typeface="Consolas"/>
                <a:ea typeface="Calibri"/>
                <a:cs typeface="Calibri"/>
              </a:rPr>
              <a:t> </a:t>
            </a:r>
            <a:r>
              <a:rPr lang="en-US" sz="1100" err="1">
                <a:latin typeface="Consolas"/>
                <a:ea typeface="Calibri"/>
                <a:cs typeface="Calibri"/>
              </a:rPr>
              <a:t>مشاعر</a:t>
            </a:r>
            <a:r>
              <a:rPr lang="en-US" sz="1100" dirty="0">
                <a:latin typeface="Consolas"/>
                <a:ea typeface="Calibri"/>
                <a:cs typeface="Calibri"/>
              </a:rPr>
              <a:t> </a:t>
            </a:r>
            <a:r>
              <a:rPr lang="en-US" sz="1100" err="1">
                <a:latin typeface="Consolas"/>
                <a:ea typeface="Calibri"/>
                <a:cs typeface="Calibri"/>
              </a:rPr>
              <a:t>أو</a:t>
            </a:r>
            <a:r>
              <a:rPr lang="en-US" sz="1100" dirty="0">
                <a:latin typeface="Consolas"/>
                <a:ea typeface="Calibri"/>
                <a:cs typeface="Calibri"/>
              </a:rPr>
              <a:t> </a:t>
            </a:r>
            <a:r>
              <a:rPr lang="en-US" sz="1100" err="1">
                <a:latin typeface="Consolas"/>
                <a:ea typeface="Calibri"/>
                <a:cs typeface="Calibri"/>
              </a:rPr>
              <a:t>اللي</a:t>
            </a:r>
            <a:r>
              <a:rPr lang="en-US" sz="1100" dirty="0">
                <a:latin typeface="Consolas"/>
                <a:ea typeface="Calibri"/>
                <a:cs typeface="Calibri"/>
              </a:rPr>
              <a:t> </a:t>
            </a:r>
            <a:r>
              <a:rPr lang="en-US" sz="1100" err="1">
                <a:latin typeface="Consolas"/>
                <a:ea typeface="Calibri"/>
                <a:cs typeface="Calibri"/>
              </a:rPr>
              <a:t>بتحكي</a:t>
            </a:r>
            <a:r>
              <a:rPr lang="en-US" sz="1100" dirty="0">
                <a:latin typeface="Consolas"/>
                <a:ea typeface="Calibri"/>
                <a:cs typeface="Calibri"/>
              </a:rPr>
              <a:t> </a:t>
            </a:r>
            <a:r>
              <a:rPr lang="en-US" sz="1100" err="1">
                <a:latin typeface="Consolas"/>
                <a:ea typeface="Calibri"/>
                <a:cs typeface="Calibri"/>
              </a:rPr>
              <a:t>تجربة</a:t>
            </a:r>
            <a:r>
              <a:rPr lang="en-US" sz="1100" dirty="0">
                <a:latin typeface="Consolas"/>
                <a:ea typeface="Calibri"/>
                <a:cs typeface="Calibri"/>
              </a:rPr>
              <a:t> </a:t>
            </a:r>
            <a:r>
              <a:rPr lang="en-US" sz="1100" err="1">
                <a:latin typeface="Consolas"/>
                <a:ea typeface="Calibri"/>
                <a:cs typeface="Calibri"/>
              </a:rPr>
              <a:t>إنسانية</a:t>
            </a:r>
            <a:r>
              <a:rPr lang="en-US" sz="1100" dirty="0">
                <a:latin typeface="Consolas"/>
                <a:ea typeface="Calibri"/>
                <a:cs typeface="Calibri"/>
              </a:rPr>
              <a:t>، </a:t>
            </a:r>
            <a:r>
              <a:rPr lang="en-US" sz="1100" err="1">
                <a:latin typeface="Consolas"/>
                <a:ea typeface="Calibri"/>
                <a:cs typeface="Calibri"/>
              </a:rPr>
              <a:t>أكتر</a:t>
            </a:r>
            <a:r>
              <a:rPr lang="en-US" sz="1100" dirty="0">
                <a:latin typeface="Consolas"/>
                <a:ea typeface="Calibri"/>
                <a:cs typeface="Calibri"/>
              </a:rPr>
              <a:t> </a:t>
            </a:r>
            <a:r>
              <a:rPr lang="en-US" sz="1100" err="1">
                <a:latin typeface="Consolas"/>
                <a:ea typeface="Calibri"/>
                <a:cs typeface="Calibri"/>
              </a:rPr>
              <a:t>من</a:t>
            </a:r>
            <a:r>
              <a:rPr lang="en-US" sz="1100" dirty="0">
                <a:latin typeface="Consolas"/>
                <a:ea typeface="Calibri"/>
                <a:cs typeface="Calibri"/>
              </a:rPr>
              <a:t> </a:t>
            </a:r>
            <a:r>
              <a:rPr lang="en-US" sz="1100" err="1">
                <a:latin typeface="Consolas"/>
                <a:ea typeface="Calibri"/>
                <a:cs typeface="Calibri"/>
              </a:rPr>
              <a:t>مجرد</a:t>
            </a:r>
            <a:r>
              <a:rPr lang="en-US" sz="1100" dirty="0">
                <a:latin typeface="Consolas"/>
                <a:ea typeface="Calibri"/>
                <a:cs typeface="Calibri"/>
              </a:rPr>
              <a:t> ... </a:t>
            </a:r>
            <a:br>
              <a:rPr lang="en-US" sz="1100" dirty="0">
                <a:latin typeface="Consolas"/>
                <a:ea typeface="Calibri" pitchFamily="34" charset="-122"/>
                <a:cs typeface="Calibri" pitchFamily="34" charset="-120"/>
              </a:rPr>
            </a:br>
            <a:endParaRPr lang="en-US" sz="1100">
              <a:latin typeface="Consolas"/>
            </a:endParaRPr>
          </a:p>
        </p:txBody>
      </p:sp>
      <p:sp>
        <p:nvSpPr>
          <p:cNvPr id="19" name="Text 17"/>
          <p:cNvSpPr/>
          <p:nvPr/>
        </p:nvSpPr>
        <p:spPr>
          <a:xfrm>
            <a:off x="457200" y="3794760"/>
            <a:ext cx="20116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Reference:</a:t>
            </a:r>
            <a:endParaRPr lang="en-US" sz="1100" dirty="0"/>
          </a:p>
        </p:txBody>
      </p:sp>
      <p:sp>
        <p:nvSpPr>
          <p:cNvPr id="20" name="Text 18"/>
          <p:cNvSpPr/>
          <p:nvPr/>
        </p:nvSpPr>
        <p:spPr>
          <a:xfrm>
            <a:off x="2514600" y="3926645"/>
            <a:ext cx="6126480" cy="274320"/>
          </a:xfrm>
          <a:prstGeom prst="rect">
            <a:avLst/>
          </a:prstGeom>
          <a:noFill/>
          <a:ln/>
        </p:spPr>
        <p:txBody>
          <a:bodyPr wrap="square" lIns="0" tIns="0" rIns="0" bIns="0" rtlCol="0" anchor="ctr"/>
          <a:lstStyle/>
          <a:p>
            <a:pPr algn="r"/>
            <a:r>
              <a:rPr lang="en-US" sz="1100" err="1">
                <a:latin typeface="Consolas"/>
                <a:ea typeface="Calibri"/>
                <a:cs typeface="Calibri"/>
              </a:rPr>
              <a:t>استخدام</a:t>
            </a:r>
            <a:r>
              <a:rPr lang="en-US" sz="1100" dirty="0">
                <a:latin typeface="Consolas"/>
                <a:ea typeface="Calibri"/>
                <a:cs typeface="Calibri"/>
              </a:rPr>
              <a:t> </a:t>
            </a:r>
            <a:r>
              <a:rPr lang="en-US" sz="1100" err="1">
                <a:latin typeface="Consolas"/>
                <a:ea typeface="Calibri"/>
                <a:cs typeface="Calibri"/>
              </a:rPr>
              <a:t>الجانب</a:t>
            </a:r>
            <a:r>
              <a:rPr lang="en-US" sz="1100" dirty="0">
                <a:latin typeface="Consolas"/>
                <a:ea typeface="Calibri"/>
                <a:cs typeface="Calibri"/>
              </a:rPr>
              <a:t> </a:t>
            </a:r>
            <a:r>
              <a:rPr lang="en-US" sz="1100" err="1">
                <a:latin typeface="Consolas"/>
                <a:ea typeface="Calibri"/>
                <a:cs typeface="Calibri"/>
              </a:rPr>
              <a:t>العاطفي</a:t>
            </a:r>
            <a:r>
              <a:rPr lang="en-US" sz="1100" dirty="0">
                <a:latin typeface="Consolas"/>
                <a:ea typeface="Calibri"/>
                <a:cs typeface="Calibri"/>
              </a:rPr>
              <a:t> </a:t>
            </a:r>
            <a:r>
              <a:rPr lang="en-US" sz="1100" err="1">
                <a:latin typeface="Consolas"/>
                <a:ea typeface="Calibri"/>
                <a:cs typeface="Calibri"/>
              </a:rPr>
              <a:t>أو</a:t>
            </a:r>
            <a:r>
              <a:rPr lang="en-US" sz="1100" dirty="0">
                <a:latin typeface="Consolas"/>
                <a:ea typeface="Calibri"/>
                <a:cs typeface="Calibri"/>
              </a:rPr>
              <a:t> </a:t>
            </a:r>
            <a:r>
              <a:rPr lang="en-US" sz="1100" err="1">
                <a:latin typeface="Consolas"/>
                <a:ea typeface="Calibri"/>
                <a:cs typeface="Calibri"/>
              </a:rPr>
              <a:t>أسلوب</a:t>
            </a:r>
            <a:r>
              <a:rPr lang="en-US" sz="1100" dirty="0">
                <a:latin typeface="Consolas"/>
                <a:ea typeface="Calibri"/>
                <a:cs typeface="Calibri"/>
              </a:rPr>
              <a:t> </a:t>
            </a:r>
            <a:r>
              <a:rPr lang="en-US" sz="1100" err="1">
                <a:latin typeface="Consolas"/>
                <a:ea typeface="Calibri"/>
                <a:cs typeface="Calibri"/>
              </a:rPr>
              <a:t>سرد</a:t>
            </a:r>
            <a:r>
              <a:rPr lang="en-US" sz="1100" dirty="0">
                <a:latin typeface="Consolas"/>
                <a:ea typeface="Calibri"/>
                <a:cs typeface="Calibri"/>
              </a:rPr>
              <a:t> </a:t>
            </a:r>
            <a:r>
              <a:rPr lang="en-US" sz="1100" err="1">
                <a:latin typeface="Consolas"/>
                <a:ea typeface="Calibri"/>
                <a:cs typeface="Calibri"/>
              </a:rPr>
              <a:t>القصص</a:t>
            </a:r>
            <a:r>
              <a:rPr lang="en-US" sz="1100" dirty="0">
                <a:latin typeface="Consolas"/>
                <a:ea typeface="Calibri"/>
                <a:cs typeface="Calibri"/>
              </a:rPr>
              <a:t> </a:t>
            </a:r>
            <a:r>
              <a:rPr lang="en-US" sz="1100" err="1">
                <a:latin typeface="Consolas"/>
                <a:ea typeface="Calibri"/>
                <a:cs typeface="Calibri"/>
              </a:rPr>
              <a:t>بيعزز</a:t>
            </a:r>
            <a:r>
              <a:rPr lang="en-US" sz="1100" dirty="0">
                <a:latin typeface="Consolas"/>
                <a:ea typeface="Calibri"/>
                <a:cs typeface="Calibri"/>
              </a:rPr>
              <a:t> </a:t>
            </a:r>
            <a:r>
              <a:rPr lang="en-US" sz="1100" err="1">
                <a:latin typeface="Consolas"/>
                <a:ea typeface="Calibri"/>
                <a:cs typeface="Calibri"/>
              </a:rPr>
              <a:t>تأثير</a:t>
            </a:r>
            <a:r>
              <a:rPr lang="en-US" sz="1100" dirty="0">
                <a:latin typeface="Consolas"/>
                <a:ea typeface="Calibri"/>
                <a:cs typeface="Calibri"/>
              </a:rPr>
              <a:t> </a:t>
            </a:r>
            <a:r>
              <a:rPr lang="en-US" sz="1100" err="1">
                <a:latin typeface="Consolas"/>
                <a:ea typeface="Calibri"/>
                <a:cs typeface="Calibri"/>
              </a:rPr>
              <a:t>الرسالة</a:t>
            </a:r>
            <a:r>
              <a:rPr lang="en-US" sz="1100" dirty="0">
                <a:latin typeface="Consolas"/>
                <a:ea typeface="Calibri"/>
                <a:cs typeface="Calibri"/>
              </a:rPr>
              <a:t> </a:t>
            </a:r>
            <a:r>
              <a:rPr lang="en-US" sz="1100" err="1">
                <a:latin typeface="Consolas"/>
                <a:ea typeface="Calibri"/>
                <a:cs typeface="Calibri"/>
              </a:rPr>
              <a:t>الإعلامية</a:t>
            </a:r>
            <a:r>
              <a:rPr lang="en-US" sz="1100" dirty="0">
                <a:latin typeface="Consolas"/>
                <a:ea typeface="Calibri"/>
                <a:cs typeface="Calibri"/>
              </a:rPr>
              <a:t>، </a:t>
            </a:r>
            <a:r>
              <a:rPr lang="en-US" sz="1100" err="1">
                <a:latin typeface="Consolas"/>
                <a:ea typeface="Calibri"/>
                <a:cs typeface="Calibri"/>
              </a:rPr>
              <a:t>لأنه</a:t>
            </a:r>
            <a:r>
              <a:rPr lang="en-US" sz="1100" dirty="0">
                <a:latin typeface="Consolas"/>
                <a:ea typeface="Calibri"/>
                <a:cs typeface="Calibri"/>
              </a:rPr>
              <a:t> </a:t>
            </a:r>
            <a:r>
              <a:rPr lang="en-US" sz="1100" err="1">
                <a:latin typeface="Consolas"/>
                <a:ea typeface="Calibri"/>
                <a:cs typeface="Calibri"/>
              </a:rPr>
              <a:t>بيخلق</a:t>
            </a:r>
            <a:r>
              <a:rPr lang="en-US" sz="1100" dirty="0">
                <a:latin typeface="Consolas"/>
                <a:ea typeface="Calibri"/>
                <a:cs typeface="Calibri"/>
              </a:rPr>
              <a:t> </a:t>
            </a:r>
            <a:r>
              <a:rPr lang="en-US" sz="1100" err="1">
                <a:latin typeface="Consolas"/>
                <a:ea typeface="Calibri"/>
                <a:cs typeface="Calibri"/>
              </a:rPr>
              <a:t>رابط</a:t>
            </a:r>
            <a:r>
              <a:rPr lang="en-US" sz="1100" dirty="0">
                <a:latin typeface="Consolas"/>
                <a:ea typeface="Calibri"/>
                <a:cs typeface="Calibri"/>
              </a:rPr>
              <a:t> </a:t>
            </a:r>
            <a:r>
              <a:rPr lang="en-US" sz="1100" err="1">
                <a:latin typeface="Consolas"/>
                <a:ea typeface="Calibri"/>
                <a:cs typeface="Calibri"/>
              </a:rPr>
              <a:t>أقوى</a:t>
            </a:r>
            <a:r>
              <a:rPr lang="en-US" sz="1100" dirty="0">
                <a:latin typeface="Consolas"/>
                <a:ea typeface="Calibri"/>
                <a:cs typeface="Calibri"/>
              </a:rPr>
              <a:t> </a:t>
            </a:r>
            <a:r>
              <a:rPr lang="en-US" sz="1100" err="1">
                <a:latin typeface="Consolas"/>
                <a:ea typeface="Calibri"/>
                <a:cs typeface="Calibri"/>
              </a:rPr>
              <a:t>مع</a:t>
            </a:r>
            <a:r>
              <a:rPr lang="en-US" sz="1100" dirty="0">
                <a:latin typeface="Consolas"/>
                <a:ea typeface="Calibri"/>
                <a:cs typeface="Calibri"/>
              </a:rPr>
              <a:t> </a:t>
            </a:r>
            <a:r>
              <a:rPr lang="en-US" sz="1100" err="1">
                <a:latin typeface="Consolas"/>
                <a:ea typeface="Calibri"/>
                <a:cs typeface="Calibri"/>
              </a:rPr>
              <a:t>الجمهور</a:t>
            </a:r>
            <a:r>
              <a:rPr lang="en-US" sz="1100" dirty="0">
                <a:latin typeface="Consolas"/>
                <a:ea typeface="Calibri"/>
                <a:cs typeface="Calibri"/>
              </a:rPr>
              <a:t> </a:t>
            </a:r>
            <a:r>
              <a:rPr lang="en-US" sz="1100" err="1">
                <a:latin typeface="Consolas"/>
                <a:ea typeface="Calibri"/>
                <a:cs typeface="Calibri"/>
              </a:rPr>
              <a:t>وبيخلي</a:t>
            </a:r>
            <a:r>
              <a:rPr lang="en-US" sz="1100" dirty="0">
                <a:latin typeface="Consolas"/>
                <a:ea typeface="Calibri"/>
                <a:cs typeface="Calibri"/>
              </a:rPr>
              <a:t> </a:t>
            </a:r>
            <a:r>
              <a:rPr lang="en-US" sz="1100" err="1">
                <a:latin typeface="Consolas"/>
                <a:ea typeface="Calibri"/>
                <a:cs typeface="Calibri"/>
              </a:rPr>
              <a:t>الرسالة</a:t>
            </a:r>
            <a:r>
              <a:rPr lang="en-US" sz="1100" dirty="0">
                <a:latin typeface="Consolas"/>
                <a:ea typeface="Calibri"/>
                <a:cs typeface="Calibri"/>
              </a:rPr>
              <a:t> </a:t>
            </a:r>
            <a:r>
              <a:rPr lang="en-US" sz="1100" err="1">
                <a:latin typeface="Consolas"/>
                <a:ea typeface="Calibri"/>
                <a:cs typeface="Calibri"/>
              </a:rPr>
              <a:t>تثبت</a:t>
            </a:r>
            <a:r>
              <a:rPr lang="en-US" sz="1100" dirty="0">
                <a:latin typeface="Consolas"/>
                <a:ea typeface="Calibri"/>
                <a:cs typeface="Calibri"/>
              </a:rPr>
              <a:t> </a:t>
            </a:r>
            <a:r>
              <a:rPr lang="en-US" sz="1100" err="1">
                <a:latin typeface="Consolas"/>
                <a:ea typeface="Calibri"/>
                <a:cs typeface="Calibri"/>
              </a:rPr>
              <a:t>في</a:t>
            </a:r>
            <a:r>
              <a:rPr lang="en-US" sz="1100" dirty="0">
                <a:latin typeface="Consolas"/>
                <a:ea typeface="Calibri"/>
                <a:cs typeface="Calibri"/>
              </a:rPr>
              <a:t> </a:t>
            </a:r>
            <a:r>
              <a:rPr lang="en-US" sz="1100" err="1">
                <a:latin typeface="Consolas"/>
                <a:ea typeface="Calibri"/>
                <a:cs typeface="Calibri"/>
              </a:rPr>
              <a:t>ذهنهم</a:t>
            </a:r>
            <a:r>
              <a:rPr lang="en-US" sz="1100" dirty="0">
                <a:latin typeface="Consolas"/>
                <a:ea typeface="Calibri"/>
                <a:cs typeface="Calibri"/>
              </a:rPr>
              <a:t> </a:t>
            </a:r>
            <a:r>
              <a:rPr lang="en-US" sz="1100" err="1">
                <a:latin typeface="Consolas"/>
                <a:ea typeface="Calibri"/>
                <a:cs typeface="Calibri"/>
              </a:rPr>
              <a:t>لفترة</a:t>
            </a:r>
            <a:r>
              <a:rPr lang="en-US" sz="1100" dirty="0">
                <a:latin typeface="Consolas"/>
                <a:ea typeface="Calibri"/>
                <a:cs typeface="Calibri"/>
              </a:rPr>
              <a:t> </a:t>
            </a:r>
            <a:r>
              <a:rPr lang="en-US" sz="1100" err="1">
                <a:latin typeface="Consolas"/>
                <a:ea typeface="Calibri"/>
                <a:cs typeface="Calibri"/>
              </a:rPr>
              <a:t>أطول</a:t>
            </a:r>
            <a:r>
              <a:rPr lang="en-US" sz="1100" dirty="0">
                <a:latin typeface="Consolas"/>
                <a:ea typeface="Calibri"/>
                <a:cs typeface="Calibri"/>
              </a:rPr>
              <a:t>. </a:t>
            </a:r>
            <a:br>
              <a:rPr lang="en-US" sz="1100" dirty="0">
                <a:latin typeface="Consolas"/>
                <a:ea typeface="Calibri" pitchFamily="34" charset="-122"/>
                <a:cs typeface="Calibri" pitchFamily="34" charset="-120"/>
              </a:rPr>
            </a:br>
            <a:endParaRPr lang="en-US" sz="1100">
              <a:latin typeface="Consolas"/>
            </a:endParaRPr>
          </a:p>
        </p:txBody>
      </p:sp>
      <p:sp>
        <p:nvSpPr>
          <p:cNvPr id="21" name="Text 19"/>
          <p:cNvSpPr/>
          <p:nvPr/>
        </p:nvSpPr>
        <p:spPr>
          <a:xfrm>
            <a:off x="457200" y="4105656"/>
            <a:ext cx="20116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Generated:</a:t>
            </a:r>
            <a:endParaRPr lang="en-US" sz="1100" dirty="0"/>
          </a:p>
        </p:txBody>
      </p:sp>
      <p:sp>
        <p:nvSpPr>
          <p:cNvPr id="22" name="Text 20"/>
          <p:cNvSpPr/>
          <p:nvPr/>
        </p:nvSpPr>
        <p:spPr>
          <a:xfrm>
            <a:off x="2514600" y="4384079"/>
            <a:ext cx="6126480" cy="640666"/>
          </a:xfrm>
          <a:prstGeom prst="rect">
            <a:avLst/>
          </a:prstGeom>
          <a:noFill/>
          <a:ln/>
        </p:spPr>
        <p:txBody>
          <a:bodyPr wrap="square" lIns="0" tIns="0" rIns="0" bIns="0" rtlCol="0" anchor="ctr"/>
          <a:lstStyle/>
          <a:p>
            <a:pPr algn="r"/>
            <a:r>
              <a:rPr lang="en-US" sz="1100" err="1">
                <a:latin typeface="Consolas"/>
                <a:ea typeface="Calibri"/>
                <a:cs typeface="Calibri"/>
              </a:rPr>
              <a:t>المخرجين</a:t>
            </a:r>
            <a:r>
              <a:rPr lang="en-US" sz="1100" dirty="0">
                <a:latin typeface="Consolas"/>
                <a:ea typeface="Calibri"/>
                <a:cs typeface="Calibri"/>
              </a:rPr>
              <a:t> </a:t>
            </a:r>
            <a:r>
              <a:rPr lang="en-US" sz="1100" err="1">
                <a:latin typeface="Consolas"/>
                <a:ea typeface="Calibri"/>
                <a:cs typeface="Calibri"/>
              </a:rPr>
              <a:t>بيستخدموا</a:t>
            </a:r>
            <a:r>
              <a:rPr lang="en-US" sz="1100" dirty="0">
                <a:latin typeface="Consolas"/>
                <a:ea typeface="Calibri"/>
                <a:cs typeface="Calibri"/>
              </a:rPr>
              <a:t> </a:t>
            </a:r>
            <a:r>
              <a:rPr lang="en-US" sz="1100" err="1">
                <a:latin typeface="Consolas"/>
                <a:ea typeface="Calibri"/>
                <a:cs typeface="Calibri"/>
              </a:rPr>
              <a:t>الاعلام</a:t>
            </a:r>
            <a:r>
              <a:rPr lang="en-US" sz="1100" dirty="0">
                <a:latin typeface="Consolas"/>
                <a:ea typeface="Calibri"/>
                <a:cs typeface="Calibri"/>
              </a:rPr>
              <a:t> </a:t>
            </a:r>
            <a:r>
              <a:rPr lang="en-US" sz="1100" err="1">
                <a:latin typeface="Consolas"/>
                <a:ea typeface="Calibri"/>
                <a:cs typeface="Calibri"/>
              </a:rPr>
              <a:t>التقليديه</a:t>
            </a:r>
            <a:r>
              <a:rPr lang="en-US" sz="1100" dirty="0">
                <a:latin typeface="Consolas"/>
                <a:ea typeface="Calibri"/>
                <a:cs typeface="Calibri"/>
              </a:rPr>
              <a:t> ، </a:t>
            </a:r>
            <a:r>
              <a:rPr lang="en-US" sz="1100" err="1">
                <a:latin typeface="Consolas"/>
                <a:ea typeface="Calibri"/>
                <a:cs typeface="Calibri"/>
              </a:rPr>
              <a:t>وده</a:t>
            </a:r>
            <a:r>
              <a:rPr lang="en-US" sz="1100" dirty="0">
                <a:latin typeface="Consolas"/>
                <a:ea typeface="Calibri"/>
                <a:cs typeface="Calibri"/>
              </a:rPr>
              <a:t> </a:t>
            </a:r>
            <a:r>
              <a:rPr lang="en-US" sz="1100" err="1">
                <a:latin typeface="Consolas"/>
                <a:ea typeface="Calibri"/>
                <a:cs typeface="Calibri"/>
              </a:rPr>
              <a:t>بيصعبا</a:t>
            </a:r>
            <a:r>
              <a:rPr lang="en-US" sz="1100" dirty="0">
                <a:latin typeface="Consolas"/>
                <a:ea typeface="Calibri"/>
                <a:cs typeface="Calibri"/>
              </a:rPr>
              <a:t> </a:t>
            </a:r>
            <a:r>
              <a:rPr lang="en-US" sz="1100" err="1">
                <a:latin typeface="Consolas"/>
                <a:ea typeface="Calibri"/>
                <a:cs typeface="Calibri"/>
              </a:rPr>
              <a:t>علي</a:t>
            </a:r>
            <a:r>
              <a:rPr lang="en-US" sz="1100" dirty="0">
                <a:latin typeface="Consolas"/>
                <a:ea typeface="Calibri"/>
                <a:cs typeface="Calibri"/>
              </a:rPr>
              <a:t> </a:t>
            </a:r>
            <a:r>
              <a:rPr lang="en-US" sz="1100" err="1">
                <a:latin typeface="Consolas"/>
                <a:ea typeface="Calibri"/>
                <a:cs typeface="Calibri"/>
              </a:rPr>
              <a:t>المستهلكين</a:t>
            </a:r>
            <a:r>
              <a:rPr lang="en-US" sz="1100" dirty="0">
                <a:latin typeface="Consolas"/>
                <a:ea typeface="Calibri"/>
                <a:cs typeface="Calibri"/>
              </a:rPr>
              <a:t> </a:t>
            </a:r>
            <a:r>
              <a:rPr lang="en-US" sz="1100" err="1">
                <a:latin typeface="Consolas"/>
                <a:ea typeface="Calibri"/>
                <a:cs typeface="Calibri"/>
              </a:rPr>
              <a:t>وبيخليهم</a:t>
            </a:r>
            <a:r>
              <a:rPr lang="en-US" sz="1100" dirty="0">
                <a:latin typeface="Consolas"/>
                <a:ea typeface="Calibri"/>
                <a:cs typeface="Calibri"/>
              </a:rPr>
              <a:t> </a:t>
            </a:r>
            <a:r>
              <a:rPr lang="en-US" sz="1100" err="1">
                <a:latin typeface="Consolas"/>
                <a:ea typeface="Calibri"/>
                <a:cs typeface="Calibri"/>
              </a:rPr>
              <a:t>من</a:t>
            </a:r>
            <a:r>
              <a:rPr lang="en-US" sz="1100" dirty="0">
                <a:latin typeface="Consolas"/>
                <a:ea typeface="Calibri"/>
                <a:cs typeface="Calibri"/>
              </a:rPr>
              <a:t> </a:t>
            </a:r>
            <a:r>
              <a:rPr lang="en-US" sz="1100" err="1">
                <a:latin typeface="Consolas"/>
                <a:ea typeface="Calibri"/>
                <a:cs typeface="Calibri"/>
              </a:rPr>
              <a:t>المهارات</a:t>
            </a:r>
            <a:r>
              <a:rPr lang="en-US" sz="1100" dirty="0">
                <a:latin typeface="Consolas"/>
                <a:ea typeface="Calibri"/>
                <a:cs typeface="Calibri"/>
              </a:rPr>
              <a:t> </a:t>
            </a:r>
            <a:r>
              <a:rPr lang="en-US" sz="1100" err="1">
                <a:latin typeface="Consolas"/>
                <a:ea typeface="Calibri"/>
                <a:cs typeface="Calibri"/>
              </a:rPr>
              <a:t>الرقميه</a:t>
            </a:r>
            <a:r>
              <a:rPr lang="en-US" sz="1100" dirty="0">
                <a:latin typeface="Consolas"/>
                <a:ea typeface="Calibri"/>
                <a:cs typeface="Calibri"/>
              </a:rPr>
              <a:t> </a:t>
            </a:r>
            <a:r>
              <a:rPr lang="en-US" sz="1100" err="1">
                <a:latin typeface="Consolas"/>
                <a:ea typeface="Calibri"/>
                <a:cs typeface="Calibri"/>
              </a:rPr>
              <a:t>وبيخليها</a:t>
            </a:r>
            <a:r>
              <a:rPr lang="en-US" sz="1100" dirty="0">
                <a:latin typeface="Consolas"/>
                <a:ea typeface="Calibri"/>
                <a:cs typeface="Calibri"/>
              </a:rPr>
              <a:t> </a:t>
            </a:r>
            <a:r>
              <a:rPr lang="en-US" sz="1100" err="1">
                <a:latin typeface="Consolas"/>
                <a:ea typeface="Calibri"/>
                <a:cs typeface="Calibri"/>
              </a:rPr>
              <a:t>تحارب</a:t>
            </a:r>
            <a:r>
              <a:rPr lang="en-US" sz="1100" dirty="0">
                <a:latin typeface="Consolas"/>
                <a:ea typeface="Calibri"/>
                <a:cs typeface="Calibri"/>
              </a:rPr>
              <a:t> </a:t>
            </a:r>
            <a:r>
              <a:rPr lang="en-US" sz="1100" err="1">
                <a:latin typeface="Consolas"/>
                <a:ea typeface="Calibri"/>
                <a:cs typeface="Calibri"/>
              </a:rPr>
              <a:t>الحكومه</a:t>
            </a:r>
            <a:r>
              <a:rPr lang="en-US" sz="1100" dirty="0">
                <a:latin typeface="Consolas"/>
                <a:ea typeface="Calibri"/>
                <a:cs typeface="Calibri"/>
              </a:rPr>
              <a:t> </a:t>
            </a:r>
            <a:br>
              <a:rPr lang="en-US" sz="1100" dirty="0">
                <a:latin typeface="Consolas"/>
                <a:ea typeface="Calibri" pitchFamily="34" charset="-122"/>
                <a:cs typeface="Calibri" pitchFamily="34" charset="-120"/>
              </a:rPr>
            </a:br>
            <a:endParaRPr lang="en-US" sz="1100">
              <a:latin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457200" y="109728"/>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Analysis, Challenges &amp; Lessons Learned</a:t>
            </a:r>
            <a:endParaRPr lang="en-US" sz="2400" dirty="0"/>
          </a:p>
        </p:txBody>
      </p:sp>
      <p:sp>
        <p:nvSpPr>
          <p:cNvPr id="4" name="Shape 2"/>
          <p:cNvSpPr/>
          <p:nvPr/>
        </p:nvSpPr>
        <p:spPr>
          <a:xfrm>
            <a:off x="274320" y="960120"/>
            <a:ext cx="2651760" cy="384048"/>
          </a:xfrm>
          <a:prstGeom prst="rect">
            <a:avLst/>
          </a:prstGeom>
          <a:solidFill>
            <a:srgbClr val="1B7A8A"/>
          </a:solidFill>
          <a:ln w="12700">
            <a:solidFill>
              <a:srgbClr val="1B7A8A"/>
            </a:solidFill>
            <a:prstDash val="solid"/>
          </a:ln>
        </p:spPr>
        <p:txBody>
          <a:bodyPr/>
          <a:lstStyle/>
          <a:p>
            <a:endParaRPr lang="en-US"/>
          </a:p>
        </p:txBody>
      </p:sp>
      <p:sp>
        <p:nvSpPr>
          <p:cNvPr id="5" name="Text 3"/>
          <p:cNvSpPr/>
          <p:nvPr/>
        </p:nvSpPr>
        <p:spPr>
          <a:xfrm>
            <a:off x="274320" y="960120"/>
            <a:ext cx="26517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What Worked</a:t>
            </a:r>
            <a:endParaRPr lang="en-US" sz="1300" dirty="0"/>
          </a:p>
        </p:txBody>
      </p:sp>
      <p:sp>
        <p:nvSpPr>
          <p:cNvPr id="6" name="Shape 4"/>
          <p:cNvSpPr/>
          <p:nvPr/>
        </p:nvSpPr>
        <p:spPr>
          <a:xfrm>
            <a:off x="274320" y="1344168"/>
            <a:ext cx="2651760" cy="361188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7" name="Text 5"/>
          <p:cNvSpPr/>
          <p:nvPr/>
        </p:nvSpPr>
        <p:spPr>
          <a:xfrm>
            <a:off x="384048" y="1417320"/>
            <a:ext cx="2487168" cy="3456432"/>
          </a:xfrm>
          <a:prstGeom prst="rect">
            <a:avLst/>
          </a:prstGeom>
          <a:noFill/>
          <a:ln/>
        </p:spPr>
        <p:txBody>
          <a:bodyPr wrap="square" rtlCol="0" anchor="ctr"/>
          <a:lstStyle/>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Frozen AraBERT embeddings reduced GPU memory by ~40% vs training embeddings</a:t>
            </a:r>
            <a:endParaRPr lang="en-US" sz="1100" dirty="0"/>
          </a:p>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Bidirectional encoder improved context capture vs unidirectional baseline</a:t>
            </a:r>
            <a:endParaRPr lang="en-US" sz="1100" dirty="0"/>
          </a:p>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Repetition penalty + temperature sampling made outputs more fluent</a:t>
            </a:r>
            <a:endParaRPr lang="en-US" sz="1100" dirty="0"/>
          </a:p>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Early stopping prevented overfitting on the large merged dataset</a:t>
            </a:r>
            <a:endParaRPr lang="en-US" sz="1100" dirty="0"/>
          </a:p>
        </p:txBody>
      </p:sp>
      <p:sp>
        <p:nvSpPr>
          <p:cNvPr id="8" name="Shape 6"/>
          <p:cNvSpPr/>
          <p:nvPr/>
        </p:nvSpPr>
        <p:spPr>
          <a:xfrm>
            <a:off x="3200400" y="960120"/>
            <a:ext cx="2651760" cy="384048"/>
          </a:xfrm>
          <a:prstGeom prst="rect">
            <a:avLst/>
          </a:prstGeom>
          <a:solidFill>
            <a:srgbClr val="B85042"/>
          </a:solidFill>
          <a:ln w="12700">
            <a:solidFill>
              <a:srgbClr val="B85042"/>
            </a:solidFill>
            <a:prstDash val="solid"/>
          </a:ln>
        </p:spPr>
        <p:txBody>
          <a:bodyPr/>
          <a:lstStyle/>
          <a:p>
            <a:endParaRPr lang="en-US"/>
          </a:p>
        </p:txBody>
      </p:sp>
      <p:sp>
        <p:nvSpPr>
          <p:cNvPr id="9" name="Text 7"/>
          <p:cNvSpPr/>
          <p:nvPr/>
        </p:nvSpPr>
        <p:spPr>
          <a:xfrm>
            <a:off x="3200400" y="960120"/>
            <a:ext cx="26517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Challenges</a:t>
            </a:r>
            <a:endParaRPr lang="en-US" sz="1300" dirty="0"/>
          </a:p>
        </p:txBody>
      </p:sp>
      <p:sp>
        <p:nvSpPr>
          <p:cNvPr id="10" name="Shape 8"/>
          <p:cNvSpPr/>
          <p:nvPr/>
        </p:nvSpPr>
        <p:spPr>
          <a:xfrm>
            <a:off x="3200400" y="1344168"/>
            <a:ext cx="2651760" cy="361188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11" name="Text 9"/>
          <p:cNvSpPr/>
          <p:nvPr/>
        </p:nvSpPr>
        <p:spPr>
          <a:xfrm>
            <a:off x="3310128" y="1417320"/>
            <a:ext cx="2487168" cy="3456432"/>
          </a:xfrm>
          <a:prstGeom prst="rect">
            <a:avLst/>
          </a:prstGeom>
          <a:noFill/>
          <a:ln/>
        </p:spPr>
        <p:txBody>
          <a:bodyPr wrap="square" rtlCol="0" anchor="ctr"/>
          <a:lstStyle/>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Arabic morphology → same concept in many word forms hurts ROUGE scores</a:t>
            </a:r>
            <a:endParaRPr lang="en-US" sz="1100" dirty="0"/>
          </a:p>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Dialectal mixing (MSA + Egyptian) caused inconsistent tokenisation</a:t>
            </a:r>
            <a:endParaRPr lang="en-US" sz="1100" dirty="0"/>
          </a:p>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GPU memory limits forced smaller LSTM units than ideal</a:t>
            </a:r>
            <a:endParaRPr lang="en-US" sz="1100" dirty="0"/>
          </a:p>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Some generated outputs truncate mid-sentence (max 60 tokens)</a:t>
            </a:r>
            <a:endParaRPr lang="en-US" sz="1100" dirty="0"/>
          </a:p>
        </p:txBody>
      </p:sp>
      <p:sp>
        <p:nvSpPr>
          <p:cNvPr id="12" name="Shape 10"/>
          <p:cNvSpPr/>
          <p:nvPr/>
        </p:nvSpPr>
        <p:spPr>
          <a:xfrm>
            <a:off x="6126480" y="960120"/>
            <a:ext cx="2651760" cy="384048"/>
          </a:xfrm>
          <a:prstGeom prst="rect">
            <a:avLst/>
          </a:prstGeom>
          <a:solidFill>
            <a:srgbClr val="2EC4B6"/>
          </a:solidFill>
          <a:ln w="12700">
            <a:solidFill>
              <a:srgbClr val="2EC4B6"/>
            </a:solidFill>
            <a:prstDash val="solid"/>
          </a:ln>
        </p:spPr>
        <p:txBody>
          <a:bodyPr/>
          <a:lstStyle/>
          <a:p>
            <a:endParaRPr lang="en-US"/>
          </a:p>
        </p:txBody>
      </p:sp>
      <p:sp>
        <p:nvSpPr>
          <p:cNvPr id="13" name="Text 11"/>
          <p:cNvSpPr/>
          <p:nvPr/>
        </p:nvSpPr>
        <p:spPr>
          <a:xfrm>
            <a:off x="6126480" y="960120"/>
            <a:ext cx="26517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Future Improvements</a:t>
            </a:r>
            <a:endParaRPr lang="en-US" sz="1300" dirty="0"/>
          </a:p>
        </p:txBody>
      </p:sp>
      <p:sp>
        <p:nvSpPr>
          <p:cNvPr id="14" name="Shape 12"/>
          <p:cNvSpPr/>
          <p:nvPr/>
        </p:nvSpPr>
        <p:spPr>
          <a:xfrm>
            <a:off x="6126480" y="1344168"/>
            <a:ext cx="2651760" cy="3611880"/>
          </a:xfrm>
          <a:prstGeom prst="rect">
            <a:avLst/>
          </a:prstGeom>
          <a:solidFill>
            <a:srgbClr val="F0F4F8"/>
          </a:solidFill>
          <a:ln w="12700">
            <a:solidFill>
              <a:srgbClr val="D6E8EE"/>
            </a:solidFill>
            <a:prstDash val="solid"/>
          </a:ln>
          <a:effectLst>
            <a:outerShdw blurRad="101600" dist="38100" dir="8100000" algn="bl" rotWithShape="0">
              <a:srgbClr val="000000">
                <a:alpha val="18000"/>
              </a:srgbClr>
            </a:outerShdw>
          </a:effectLst>
        </p:spPr>
        <p:txBody>
          <a:bodyPr/>
          <a:lstStyle/>
          <a:p>
            <a:endParaRPr lang="en-US"/>
          </a:p>
        </p:txBody>
      </p:sp>
      <p:sp>
        <p:nvSpPr>
          <p:cNvPr id="15" name="Text 13"/>
          <p:cNvSpPr/>
          <p:nvPr/>
        </p:nvSpPr>
        <p:spPr>
          <a:xfrm>
            <a:off x="6236208" y="1417320"/>
            <a:ext cx="2487168" cy="3456432"/>
          </a:xfrm>
          <a:prstGeom prst="rect">
            <a:avLst/>
          </a:prstGeom>
          <a:noFill/>
          <a:ln/>
        </p:spPr>
        <p:txBody>
          <a:bodyPr wrap="square" rtlCol="0" anchor="ctr"/>
          <a:lstStyle/>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Fine-tune AraBART / mBART-50 for transformer-based summarization</a:t>
            </a:r>
            <a:endParaRPr lang="en-US" sz="1100" dirty="0"/>
          </a:p>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Beam search decoding instead of temperature sampling</a:t>
            </a:r>
            <a:endParaRPr lang="en-US" sz="1100" dirty="0"/>
          </a:p>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Dialect-specific preprocessing for Egyptian Arabic subset</a:t>
            </a:r>
            <a:endParaRPr lang="en-US" sz="1100" dirty="0"/>
          </a:p>
          <a:p>
            <a:pPr marL="342900" indent="-342900">
              <a:spcAft>
                <a:spcPts val="700"/>
              </a:spcAft>
              <a:buSzPct val="100000"/>
              <a:buChar char="•"/>
            </a:pPr>
            <a:r>
              <a:rPr lang="en-US" sz="1100" dirty="0">
                <a:solidFill>
                  <a:srgbClr val="0D1B2A"/>
                </a:solidFill>
                <a:latin typeface="Calibri" pitchFamily="34" charset="0"/>
                <a:ea typeface="Calibri" pitchFamily="34" charset="-122"/>
                <a:cs typeface="Calibri" pitchFamily="34" charset="-120"/>
              </a:rPr>
              <a:t>Expand Streamlit UI with confidence scores and ROUGE feedback</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C4B6"/>
          </a:solidFill>
          <a:ln w="12700">
            <a:solidFill>
              <a:srgbClr val="2EC4B6"/>
            </a:solidFill>
            <a:prstDash val="solid"/>
          </a:ln>
        </p:spPr>
        <p:txBody>
          <a:bodyPr/>
          <a:lstStyle/>
          <a:p>
            <a:endParaRPr lang="en-US"/>
          </a:p>
        </p:txBody>
      </p:sp>
      <p:sp>
        <p:nvSpPr>
          <p:cNvPr id="3" name="Shape 1"/>
          <p:cNvSpPr/>
          <p:nvPr/>
        </p:nvSpPr>
        <p:spPr>
          <a:xfrm>
            <a:off x="6858000" y="-457200"/>
            <a:ext cx="3200400" cy="3200400"/>
          </a:xfrm>
          <a:prstGeom prst="ellipse">
            <a:avLst/>
          </a:prstGeom>
          <a:solidFill>
            <a:srgbClr val="1B7A8A">
              <a:alpha val="20000"/>
            </a:srgbClr>
          </a:solidFill>
          <a:ln w="12700">
            <a:solidFill>
              <a:srgbClr val="1B7A8A"/>
            </a:solidFill>
            <a:prstDash val="solid"/>
          </a:ln>
        </p:spPr>
        <p:txBody>
          <a:bodyPr/>
          <a:lstStyle/>
          <a:p>
            <a:endParaRPr lang="en-US"/>
          </a:p>
        </p:txBody>
      </p:sp>
      <p:sp>
        <p:nvSpPr>
          <p:cNvPr id="4" name="Text 2"/>
          <p:cNvSpPr/>
          <p:nvPr/>
        </p:nvSpPr>
        <p:spPr>
          <a:xfrm>
            <a:off x="457200" y="457200"/>
            <a:ext cx="7772400" cy="5943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Summary &amp; Takeaways</a:t>
            </a:r>
            <a:endParaRPr lang="en-US" sz="2800" dirty="0"/>
          </a:p>
        </p:txBody>
      </p:sp>
      <p:sp>
        <p:nvSpPr>
          <p:cNvPr id="5" name="Text 3"/>
          <p:cNvSpPr/>
          <p:nvPr/>
        </p:nvSpPr>
        <p:spPr>
          <a:xfrm>
            <a:off x="457200" y="1234440"/>
            <a:ext cx="8229600" cy="2560320"/>
          </a:xfrm>
          <a:prstGeom prst="rect">
            <a:avLst/>
          </a:prstGeom>
          <a:noFill/>
          <a:ln/>
        </p:spPr>
        <p:txBody>
          <a:bodyPr wrap="square" rtlCol="0" anchor="ctr"/>
          <a:lstStyle/>
          <a:p>
            <a:pPr marL="342900" indent="-342900">
              <a:spcAft>
                <a:spcPts val="800"/>
              </a:spcAft>
              <a:buSzPct val="100000"/>
              <a:buChar char="•"/>
            </a:pPr>
            <a:r>
              <a:rPr lang="en-US" sz="1300" dirty="0">
                <a:solidFill>
                  <a:srgbClr val="D6E8EE"/>
                </a:solidFill>
                <a:latin typeface="Calibri" pitchFamily="34" charset="0"/>
                <a:ea typeface="Calibri" pitchFamily="34" charset="-122"/>
                <a:cs typeface="Calibri" pitchFamily="34" charset="-120"/>
              </a:rPr>
              <a:t>Built a fully working Arabic abstractive summarization pipeline from scratch</a:t>
            </a:r>
            <a:endParaRPr lang="en-US" sz="1300" dirty="0"/>
          </a:p>
          <a:p>
            <a:pPr marL="342900" indent="-342900">
              <a:spcAft>
                <a:spcPts val="800"/>
              </a:spcAft>
              <a:buSzPct val="100000"/>
              <a:buChar char="•"/>
            </a:pPr>
            <a:r>
              <a:rPr lang="en-US" sz="1300" dirty="0">
                <a:solidFill>
                  <a:srgbClr val="D6E8EE"/>
                </a:solidFill>
                <a:latin typeface="Calibri" pitchFamily="34" charset="0"/>
                <a:ea typeface="Calibri" pitchFamily="34" charset="-122"/>
                <a:cs typeface="Calibri" pitchFamily="34" charset="-120"/>
              </a:rPr>
              <a:t>Leveraged 5 heterogeneous Arabic datasets merged into a unified corpus</a:t>
            </a:r>
            <a:endParaRPr lang="en-US" sz="1300" dirty="0"/>
          </a:p>
          <a:p>
            <a:pPr marL="342900" indent="-342900">
              <a:spcAft>
                <a:spcPts val="800"/>
              </a:spcAft>
              <a:buSzPct val="100000"/>
              <a:buChar char="•"/>
            </a:pPr>
            <a:r>
              <a:rPr lang="en-US" sz="1300" dirty="0">
                <a:solidFill>
                  <a:srgbClr val="D6E8EE"/>
                </a:solidFill>
                <a:latin typeface="Calibri" pitchFamily="34" charset="0"/>
                <a:ea typeface="Calibri" pitchFamily="34" charset="-122"/>
                <a:cs typeface="Calibri" pitchFamily="34" charset="-120"/>
              </a:rPr>
              <a:t>Implemented Bidirectional LSTM Seq2Seq with Bahdanau attention and AraBERT embeddings</a:t>
            </a:r>
            <a:endParaRPr lang="en-US" sz="1300" dirty="0"/>
          </a:p>
          <a:p>
            <a:pPr marL="342900" indent="-342900">
              <a:spcAft>
                <a:spcPts val="800"/>
              </a:spcAft>
              <a:buSzPct val="100000"/>
              <a:buChar char="•"/>
            </a:pPr>
            <a:r>
              <a:rPr lang="en-US" sz="1300" dirty="0">
                <a:solidFill>
                  <a:srgbClr val="D6E8EE"/>
                </a:solidFill>
                <a:latin typeface="Calibri" pitchFamily="34" charset="0"/>
                <a:ea typeface="Calibri" pitchFamily="34" charset="-122"/>
                <a:cs typeface="Calibri" pitchFamily="34" charset="-120"/>
              </a:rPr>
              <a:t>Applied professional ML engineering practices: mixed precision, callbacks, CSVLogger</a:t>
            </a:r>
            <a:endParaRPr lang="en-US" sz="1300" dirty="0"/>
          </a:p>
          <a:p>
            <a:pPr marL="342900" indent="-342900">
              <a:spcAft>
                <a:spcPts val="800"/>
              </a:spcAft>
              <a:buSzPct val="100000"/>
              <a:buChar char="•"/>
            </a:pPr>
            <a:r>
              <a:rPr lang="en-US" sz="1300" dirty="0">
                <a:solidFill>
                  <a:srgbClr val="D6E8EE"/>
                </a:solidFill>
                <a:latin typeface="Calibri" pitchFamily="34" charset="0"/>
                <a:ea typeface="Calibri" pitchFamily="34" charset="-122"/>
                <a:cs typeface="Calibri" pitchFamily="34" charset="-120"/>
              </a:rPr>
              <a:t>Evaluated quantitatively (ROUGE) and qualitatively (sample analysis)</a:t>
            </a:r>
            <a:endParaRPr lang="en-US" sz="1300" dirty="0"/>
          </a:p>
        </p:txBody>
      </p:sp>
      <p:sp>
        <p:nvSpPr>
          <p:cNvPr id="6" name="Shape 4"/>
          <p:cNvSpPr/>
          <p:nvPr/>
        </p:nvSpPr>
        <p:spPr>
          <a:xfrm>
            <a:off x="457200" y="3931920"/>
            <a:ext cx="5029200" cy="36576"/>
          </a:xfrm>
          <a:prstGeom prst="rect">
            <a:avLst/>
          </a:prstGeom>
          <a:solidFill>
            <a:srgbClr val="2EC4B6"/>
          </a:solidFill>
          <a:ln w="12700">
            <a:solidFill>
              <a:srgbClr val="2EC4B6"/>
            </a:solidFill>
            <a:prstDash val="solid"/>
          </a:ln>
        </p:spPr>
        <p:txBody>
          <a:bodyPr/>
          <a:lstStyle/>
          <a:p>
            <a:endParaRPr lang="en-US"/>
          </a:p>
        </p:txBody>
      </p:sp>
      <p:sp>
        <p:nvSpPr>
          <p:cNvPr id="7" name="Text 5"/>
          <p:cNvSpPr/>
          <p:nvPr/>
        </p:nvSpPr>
        <p:spPr>
          <a:xfrm>
            <a:off x="457200" y="4160520"/>
            <a:ext cx="8229600" cy="594360"/>
          </a:xfrm>
          <a:prstGeom prst="rect">
            <a:avLst/>
          </a:prstGeom>
          <a:noFill/>
          <a:ln/>
        </p:spPr>
        <p:txBody>
          <a:bodyPr wrap="square" lIns="91440" tIns="45720" rIns="91440" bIns="45720" rtlCol="0" anchor="ctr"/>
          <a:lstStyle/>
          <a:p>
            <a:pPr marL="0" indent="0">
              <a:buNone/>
            </a:pPr>
            <a:r>
              <a:rPr lang="en-US" sz="1800" i="1">
                <a:solidFill>
                  <a:srgbClr val="2EC4B6"/>
                </a:solidFill>
                <a:latin typeface="Georgia"/>
                <a:ea typeface="Georgia" pitchFamily="34" charset="-122"/>
                <a:cs typeface="Georgia" pitchFamily="34" charset="-120"/>
              </a:rPr>
              <a:t>Thank you </a:t>
            </a:r>
            <a:endParaRPr lang="en-US" sz="1800" dirty="0">
              <a:latin typeface="Georgia"/>
              <a:ea typeface="Calibri" panose="020F0502020204030204"/>
              <a:cs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2278</Words>
  <Application>Microsoft Office PowerPoint</Application>
  <PresentationFormat>On-screen Show (16:9)</PresentationFormat>
  <Paragraphs>188</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Arabic Text Summarization — Final Project</dc:title>
  <dc:subject>PptxGenJS Presentation</dc:subject>
  <dc:creator>PptxGenJS</dc:creator>
  <cp:lastModifiedBy>Omar Kayyali</cp:lastModifiedBy>
  <cp:revision>46</cp:revision>
  <dcterms:created xsi:type="dcterms:W3CDTF">2026-05-16T20:43:15Z</dcterms:created>
  <dcterms:modified xsi:type="dcterms:W3CDTF">2026-05-17T05:37:07Z</dcterms:modified>
</cp:coreProperties>
</file>