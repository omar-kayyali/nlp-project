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1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2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0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1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6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8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1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6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5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7CE89B1-CF23-4E7C-B181-29E17ECFA08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2E7310B-999E-4CD0-8FA0-D503DEB04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788A-4B1E-47DB-1AB9-C12E8A63F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430" y="0"/>
            <a:ext cx="11737298" cy="5636301"/>
          </a:xfrm>
        </p:spPr>
        <p:txBody>
          <a:bodyPr>
            <a:normAutofit/>
          </a:bodyPr>
          <a:lstStyle/>
          <a:p>
            <a:r>
              <a:rPr lang="en-US" sz="6000" b="1" dirty="0"/>
              <a:t>Abstractive Arabic Text Summarization Using Seq2Seq Models</a:t>
            </a:r>
            <a:r>
              <a:rPr lang="en-US" sz="60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38CA9-EEC6-93CE-729E-0DF6BF493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19"/>
            <a:ext cx="7891272" cy="1741857"/>
          </a:xfrm>
        </p:spPr>
        <p:txBody>
          <a:bodyPr>
            <a:normAutofit/>
          </a:bodyPr>
          <a:lstStyle/>
          <a:p>
            <a:r>
              <a:rPr lang="en-US" sz="1600" dirty="0"/>
              <a:t>NLP Project</a:t>
            </a:r>
          </a:p>
          <a:p>
            <a:r>
              <a:rPr lang="en-US" sz="1600" dirty="0"/>
              <a:t>Omar Kayyali 20230193</a:t>
            </a:r>
          </a:p>
          <a:p>
            <a:r>
              <a:rPr lang="en-US" sz="1600" dirty="0"/>
              <a:t>Bara’ Al Smadi 20230749</a:t>
            </a:r>
          </a:p>
          <a:p>
            <a:r>
              <a:rPr lang="en-US" sz="1600" dirty="0"/>
              <a:t>Hamza Al </a:t>
            </a:r>
            <a:r>
              <a:rPr lang="en-US" sz="1600" dirty="0" err="1"/>
              <a:t>Khuzai</a:t>
            </a:r>
            <a:r>
              <a:rPr lang="en-US" sz="1600" dirty="0"/>
              <a:t> 20230430</a:t>
            </a:r>
          </a:p>
        </p:txBody>
      </p:sp>
    </p:spTree>
    <p:extLst>
      <p:ext uri="{BB962C8B-B14F-4D97-AF65-F5344CB8AC3E}">
        <p14:creationId xmlns:p14="http://schemas.microsoft.com/office/powerpoint/2010/main" val="425447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B161-64DB-DDDE-1DD0-34F8D5625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5535A-3621-7EB2-9920-39ABC8F1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Explosion of Arabic digital content.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Manual summarization is time-consuming.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Need for automatic summarization that preserves meaning.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Challenge: Arabic morphology, dialects, and linguistic richness.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5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30F9-671D-DD07-9B45-F1D18595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7B2D-C4A6-5DB7-5EAC-58F6F602D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Extractive</a:t>
            </a:r>
            <a:r>
              <a:rPr lang="en-US" dirty="0">
                <a:effectLst/>
              </a:rPr>
              <a:t>: Selects key sentences.</a:t>
            </a:r>
            <a:endParaRPr lang="en-US" dirty="0"/>
          </a:p>
          <a:p>
            <a:r>
              <a:rPr lang="en-US" b="1" dirty="0">
                <a:effectLst/>
              </a:rPr>
              <a:t>Abstractive</a:t>
            </a:r>
            <a:r>
              <a:rPr lang="en-US" dirty="0">
                <a:effectLst/>
              </a:rPr>
              <a:t>: Generates new sentences capturing meaning.</a:t>
            </a:r>
            <a:endParaRPr lang="en-US" dirty="0"/>
          </a:p>
          <a:p>
            <a:r>
              <a:rPr lang="en-US" dirty="0">
                <a:effectLst/>
              </a:rPr>
              <a:t>Our focus: </a:t>
            </a:r>
            <a:r>
              <a:rPr lang="en-US" b="1" dirty="0">
                <a:effectLst/>
              </a:rPr>
              <a:t>Abstractive summarization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698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F9EA-EEC9-D040-AC0B-CD6534B2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91474-22C4-1A37-5235-1DE95088A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Implement Seq2Seq encoder-decoder with attention.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Preprocess Arabic text.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Train on multiple datasets.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Evaluate with ROUGE metrics.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ffectLst/>
              </a:rPr>
              <a:t>Build a </a:t>
            </a:r>
            <a:r>
              <a:rPr lang="en-US" dirty="0" err="1">
                <a:effectLst/>
              </a:rPr>
              <a:t>Streamlit</a:t>
            </a:r>
            <a:r>
              <a:rPr lang="en-US" dirty="0">
                <a:effectLst/>
              </a:rPr>
              <a:t> UI.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8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06DC-9870-1F57-AA75-BAAD07B8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53C82-09B6-3861-C1D1-5B9534FC0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effectLst/>
              </a:rPr>
              <a:t>SumArabic</a:t>
            </a:r>
            <a:r>
              <a:rPr lang="en-US" dirty="0">
                <a:effectLst/>
              </a:rPr>
              <a:t> (~84k news pairs).</a:t>
            </a:r>
            <a:endParaRPr lang="en-US" dirty="0"/>
          </a:p>
          <a:p>
            <a:r>
              <a:rPr lang="en-US" b="1" dirty="0" err="1">
                <a:effectLst/>
              </a:rPr>
              <a:t>AraSum</a:t>
            </a:r>
            <a:r>
              <a:rPr lang="en-US" dirty="0">
                <a:effectLst/>
              </a:rPr>
              <a:t> (~49k examples).</a:t>
            </a:r>
            <a:endParaRPr lang="en-US" dirty="0"/>
          </a:p>
          <a:p>
            <a:r>
              <a:rPr lang="en-US" b="1" dirty="0">
                <a:effectLst/>
              </a:rPr>
              <a:t>Egyptian Arabic Dataset</a:t>
            </a:r>
            <a:r>
              <a:rPr lang="en-US" dirty="0">
                <a:effectLst/>
              </a:rPr>
              <a:t> (dialectal).</a:t>
            </a:r>
            <a:endParaRPr lang="en-US" dirty="0"/>
          </a:p>
          <a:p>
            <a:r>
              <a:rPr lang="en-US" dirty="0">
                <a:effectLst/>
              </a:rPr>
              <a:t>Kaggle &amp; </a:t>
            </a:r>
            <a:r>
              <a:rPr lang="en-US" dirty="0" err="1">
                <a:effectLst/>
              </a:rPr>
              <a:t>Summset</a:t>
            </a:r>
            <a:r>
              <a:rPr lang="en-US" dirty="0">
                <a:effectLst/>
              </a:rPr>
              <a:t> corpora merged.</a:t>
            </a:r>
            <a:endParaRPr lang="en-US" dirty="0"/>
          </a:p>
          <a:p>
            <a:r>
              <a:rPr lang="en-US" dirty="0">
                <a:effectLst/>
              </a:rPr>
              <a:t>Unified dataset after cleaning &amp; deduplication.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40F2-C31B-291E-3A00-8BF18483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CCFD-C451-F857-D7B7-7D9F99677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Normalize Arabic characters.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Remove punctuation, URLs, diacritics.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Tokenization with AraBERT.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Input length: 200 tokens, Summary length: 60 tokens.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03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1244-CB84-D010-BDE2-F072C10E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42AE7-C043-4CBD-64FE-70984916A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Encoder: Bidirectional LSTM.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Decoder: LSTM with concatenated states.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Attention: Additive attention.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Output: Dense + </a:t>
            </a:r>
            <a:r>
              <a:rPr lang="en-US" dirty="0" err="1">
                <a:effectLst/>
              </a:rPr>
              <a:t>softmax</a:t>
            </a:r>
            <a:r>
              <a:rPr lang="en-US" dirty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98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3C4E-909F-A216-9889-BA4A91BF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44EA0-1E29-DC35-6073-62C7A492E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Mixed precision for efficiency.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Early stopping, checkpoints, LR reduction.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Metrics: ROUGE-1, ROUGE-2, ROUGE-L.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Qualitative analysis: generated vs reference summaries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6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B1AF-3B2D-1190-A474-3FE21B11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CCD32-3C94-EC84-9E68-7924B0A2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Example summaries (Generated vs Reference).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Training curves: loss &amp; accuracy.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ROUGE scores showing improvement.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0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3F9C-66F7-A04F-0971-66082463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0D8C-E564-A8DD-77AF-AE87D4481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Built with </a:t>
            </a:r>
            <a:r>
              <a:rPr lang="en-US" b="1" dirty="0" err="1">
                <a:effectLst/>
              </a:rPr>
              <a:t>Streamlit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Input Arabic text → Output summary.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Simple, interactive, accessible.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9914-F93E-811F-C66B-945684D5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2520-E68F-C80D-0228-39C998D4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Dialectal variations.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Preventing repetition loops.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Balancing grammar vs meaning.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Large </a:t>
            </a:r>
            <a:r>
              <a:rPr lang="en-US" dirty="0"/>
              <a:t>dataset</a:t>
            </a:r>
            <a:r>
              <a:rPr lang="en-US" dirty="0">
                <a:effectLst/>
              </a:rPr>
              <a:t> memory constraints.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828E-EA2A-1F11-3C79-DC7ECAE7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908C-5D0F-14B1-F7DB-824904207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Implemented abstractive summarization for Arabic.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Achieved meaningful summaries with Seq2Seq + Attention.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>
                <a:effectLst/>
              </a:rPr>
              <a:t>Future work: Transformers (BART, T5), larger datasets, deployment.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18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211</TotalTime>
  <Words>301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Rockwell</vt:lpstr>
      <vt:lpstr>Rockwell Condensed</vt:lpstr>
      <vt:lpstr>Wingdings</vt:lpstr>
      <vt:lpstr>Wood Type</vt:lpstr>
      <vt:lpstr>Abstractive Arabic Text Summarization Using Seq2Seq Models </vt:lpstr>
      <vt:lpstr>Problem Statement</vt:lpstr>
      <vt:lpstr>Approaches</vt:lpstr>
      <vt:lpstr>Objectives</vt:lpstr>
      <vt:lpstr>Datasets</vt:lpstr>
      <vt:lpstr>Preprocessing</vt:lpstr>
      <vt:lpstr>Model Architecture</vt:lpstr>
      <vt:lpstr>Training &amp; Evaluation</vt:lpstr>
      <vt:lpstr>Results</vt:lpstr>
      <vt:lpstr>User Interface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Kayyali</dc:creator>
  <cp:lastModifiedBy>Omar Kayyali</cp:lastModifiedBy>
  <cp:revision>1</cp:revision>
  <dcterms:created xsi:type="dcterms:W3CDTF">2026-05-13T17:10:34Z</dcterms:created>
  <dcterms:modified xsi:type="dcterms:W3CDTF">2026-05-13T20:41:44Z</dcterms:modified>
</cp:coreProperties>
</file>